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4"/>
  </p:notesMasterIdLst>
  <p:sldIdLst>
    <p:sldId id="361" r:id="rId5"/>
    <p:sldId id="1064" r:id="rId6"/>
    <p:sldId id="1065" r:id="rId7"/>
    <p:sldId id="1081" r:id="rId8"/>
    <p:sldId id="1080" r:id="rId9"/>
    <p:sldId id="1077" r:id="rId10"/>
    <p:sldId id="1084" r:id="rId11"/>
    <p:sldId id="1085" r:id="rId12"/>
    <p:sldId id="1078" r:id="rId13"/>
    <p:sldId id="1079" r:id="rId14"/>
    <p:sldId id="1070" r:id="rId15"/>
    <p:sldId id="1071" r:id="rId16"/>
    <p:sldId id="1074" r:id="rId17"/>
    <p:sldId id="1075" r:id="rId18"/>
    <p:sldId id="1083" r:id="rId19"/>
    <p:sldId id="1076" r:id="rId20"/>
    <p:sldId id="1072" r:id="rId21"/>
    <p:sldId id="1066" r:id="rId22"/>
    <p:sldId id="444" r:id="rId23"/>
  </p:sldIdLst>
  <p:sldSz cx="9721850" cy="6121400"/>
  <p:notesSz cx="6735763" cy="9866313"/>
  <p:defaultTextStyle>
    <a:defPPr>
      <a:defRPr lang="en-US"/>
    </a:defPPr>
    <a:lvl1pPr marL="0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31800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64235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96035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28470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60270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92070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24505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56305" algn="l" defTabSz="864235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>
          <p15:clr>
            <a:srgbClr val="A4A3A4"/>
          </p15:clr>
        </p15:guide>
        <p15:guide id="2" pos="612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10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FF"/>
    <a:srgbClr val="44B481"/>
    <a:srgbClr val="28F850"/>
    <a:srgbClr val="FFFF66"/>
    <a:srgbClr val="336600"/>
    <a:srgbClr val="00FF00"/>
    <a:srgbClr val="FFC000"/>
    <a:srgbClr val="520E4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3446" autoAdjust="0"/>
  </p:normalViewPr>
  <p:slideViewPr>
    <p:cSldViewPr>
      <p:cViewPr varScale="1">
        <p:scale>
          <a:sx n="179" d="100"/>
          <a:sy n="179" d="100"/>
        </p:scale>
        <p:origin x="930" y="150"/>
      </p:cViewPr>
      <p:guideLst>
        <p:guide orient="horz" pos="3562"/>
        <p:guide pos="6124"/>
      </p:guideLst>
    </p:cSldViewPr>
  </p:slideViewPr>
  <p:outlineViewPr>
    <p:cViewPr>
      <p:scale>
        <a:sx n="33" d="100"/>
        <a:sy n="33" d="100"/>
      </p:scale>
      <p:origin x="0" y="10147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>
      <p:cViewPr>
        <p:scale>
          <a:sx n="80" d="100"/>
          <a:sy n="80" d="100"/>
        </p:scale>
        <p:origin x="4032" y="36"/>
      </p:cViewPr>
      <p:guideLst>
        <p:guide orient="horz" pos="3010"/>
        <p:guide pos="215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2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2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800"/>
              <a:t>Measurement Error (% )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5.8290689679845603E-2"/>
          <c:y val="6.0162206001622066E-2"/>
          <c:w val="0.73110674779116458"/>
          <c:h val="0.92199513381995135"/>
        </c:manualLayout>
      </c:layout>
      <c:lineChart>
        <c:grouping val="standard"/>
        <c:varyColors val="0"/>
        <c:ser>
          <c:idx val="2"/>
          <c:order val="0"/>
          <c:tx>
            <c:v>Port Extention tuned for 3.3 nH</c:v>
          </c:tx>
          <c:cat>
            <c:numRef>
              <c:f>Sheet1!$M$7:$Q$7</c:f>
              <c:numCache>
                <c:formatCode>General</c:formatCode>
                <c:ptCount val="5"/>
                <c:pt idx="0">
                  <c:v>3.3</c:v>
                </c:pt>
                <c:pt idx="1">
                  <c:v>5.6</c:v>
                </c:pt>
                <c:pt idx="2">
                  <c:v>27</c:v>
                </c:pt>
                <c:pt idx="3">
                  <c:v>47</c:v>
                </c:pt>
                <c:pt idx="4">
                  <c:v>56</c:v>
                </c:pt>
              </c:numCache>
            </c:numRef>
          </c:cat>
          <c:val>
            <c:numRef>
              <c:f>Sheet1!$M$12:$Q$12</c:f>
              <c:numCache>
                <c:formatCode>0.00</c:formatCode>
                <c:ptCount val="5"/>
                <c:pt idx="0">
                  <c:v>1.2121212121212133</c:v>
                </c:pt>
                <c:pt idx="1">
                  <c:v>3.9285714285714404</c:v>
                </c:pt>
                <c:pt idx="2">
                  <c:v>-6.7777777777777715</c:v>
                </c:pt>
                <c:pt idx="3">
                  <c:v>-8.9361702127659637</c:v>
                </c:pt>
                <c:pt idx="4">
                  <c:v>-12.589285714285708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DF-4527-84D1-10F746898173}"/>
            </c:ext>
          </c:extLst>
        </c:ser>
        <c:ser>
          <c:idx val="3"/>
          <c:order val="1"/>
          <c:tx>
            <c:v>Port extention tuned to 56nH</c:v>
          </c:tx>
          <c:cat>
            <c:numRef>
              <c:f>Sheet1!$M$7:$Q$7</c:f>
              <c:numCache>
                <c:formatCode>General</c:formatCode>
                <c:ptCount val="5"/>
                <c:pt idx="0">
                  <c:v>3.3</c:v>
                </c:pt>
                <c:pt idx="1">
                  <c:v>5.6</c:v>
                </c:pt>
                <c:pt idx="2">
                  <c:v>27</c:v>
                </c:pt>
                <c:pt idx="3">
                  <c:v>47</c:v>
                </c:pt>
                <c:pt idx="4">
                  <c:v>56</c:v>
                </c:pt>
              </c:numCache>
            </c:numRef>
          </c:cat>
          <c:val>
            <c:numRef>
              <c:f>Sheet1!$M$13:$Q$13</c:f>
              <c:numCache>
                <c:formatCode>0.00</c:formatCode>
                <c:ptCount val="5"/>
                <c:pt idx="0">
                  <c:v>62.424242424242436</c:v>
                </c:pt>
                <c:pt idx="1">
                  <c:v>39.64285714285716</c:v>
                </c:pt>
                <c:pt idx="2">
                  <c:v>3.9629629629629641</c:v>
                </c:pt>
                <c:pt idx="3">
                  <c:v>3.8297872340425467</c:v>
                </c:pt>
                <c:pt idx="4">
                  <c:v>0.82142857142857295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DF-4527-84D1-10F7468981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1383920"/>
        <c:axId val="571364240"/>
      </c:lineChart>
      <c:catAx>
        <c:axId val="571383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381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364240"/>
        <c:crosses val="autoZero"/>
        <c:auto val="1"/>
        <c:lblAlgn val="ctr"/>
        <c:lblOffset val="100"/>
        <c:noMultiLvlLbl val="0"/>
      </c:catAx>
      <c:valAx>
        <c:axId val="571364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383920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59855451383076708"/>
          <c:y val="0.44999163425739674"/>
          <c:w val="0.37751272829606214"/>
          <c:h val="0.2266832704306122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/>
              <a:t>Measurement Error (% )</a:t>
            </a:r>
          </a:p>
        </c:rich>
      </c:tx>
      <c:layout>
        <c:manualLayout>
          <c:xMode val="edge"/>
          <c:yMode val="edge"/>
          <c:x val="0.29660283764836015"/>
          <c:y val="0.749569203125114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5.8290689679845603E-2"/>
          <c:y val="6.0162206001622066E-2"/>
          <c:w val="0.73110674779116458"/>
          <c:h val="0.92199513381995135"/>
        </c:manualLayout>
      </c:layout>
      <c:lineChart>
        <c:grouping val="standard"/>
        <c:varyColors val="0"/>
        <c:ser>
          <c:idx val="0"/>
          <c:order val="0"/>
          <c:tx>
            <c:v>Port Extension tuned for 0.3 pF</c:v>
          </c:tx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Sheet1!$M$21:$Q$21</c:f>
              <c:numCache>
                <c:formatCode>General</c:formatCode>
                <c:ptCount val="5"/>
                <c:pt idx="0">
                  <c:v>0.3</c:v>
                </c:pt>
                <c:pt idx="1">
                  <c:v>1</c:v>
                </c:pt>
                <c:pt idx="2">
                  <c:v>2.7</c:v>
                </c:pt>
                <c:pt idx="3">
                  <c:v>8.1999999999999993</c:v>
                </c:pt>
                <c:pt idx="4">
                  <c:v>27</c:v>
                </c:pt>
              </c:numCache>
            </c:numRef>
          </c:cat>
          <c:val>
            <c:numRef>
              <c:f>Sheet1!$M$26:$Q$26</c:f>
              <c:numCache>
                <c:formatCode>0.00</c:formatCode>
                <c:ptCount val="5"/>
                <c:pt idx="0">
                  <c:v>0.6666666666666673</c:v>
                </c:pt>
                <c:pt idx="1">
                  <c:v>2.0000000000000018</c:v>
                </c:pt>
                <c:pt idx="2">
                  <c:v>-1.4814814814814827</c:v>
                </c:pt>
                <c:pt idx="3">
                  <c:v>5.7317073170731794</c:v>
                </c:pt>
                <c:pt idx="4">
                  <c:v>12.259259259259254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B1-485B-BE72-13766272FA51}"/>
            </c:ext>
          </c:extLst>
        </c:ser>
        <c:ser>
          <c:idx val="1"/>
          <c:order val="1"/>
          <c:tx>
            <c:v>Port Extension tuned for 27 pF</c:v>
          </c:tx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Sheet1!$M$21:$Q$21</c:f>
              <c:numCache>
                <c:formatCode>General</c:formatCode>
                <c:ptCount val="5"/>
                <c:pt idx="0">
                  <c:v>0.3</c:v>
                </c:pt>
                <c:pt idx="1">
                  <c:v>1</c:v>
                </c:pt>
                <c:pt idx="2">
                  <c:v>2.7</c:v>
                </c:pt>
                <c:pt idx="3">
                  <c:v>8.1999999999999993</c:v>
                </c:pt>
                <c:pt idx="4">
                  <c:v>27</c:v>
                </c:pt>
              </c:numCache>
            </c:numRef>
          </c:cat>
          <c:val>
            <c:numRef>
              <c:f>Sheet1!$M$27:$Q$27</c:f>
              <c:numCache>
                <c:formatCode>0.00</c:formatCode>
                <c:ptCount val="5"/>
                <c:pt idx="0">
                  <c:v>-100</c:v>
                </c:pt>
                <c:pt idx="1">
                  <c:v>-39.300000000000004</c:v>
                </c:pt>
                <c:pt idx="2">
                  <c:v>-21.111111111111118</c:v>
                </c:pt>
                <c:pt idx="3">
                  <c:v>-2.9268292682926753</c:v>
                </c:pt>
                <c:pt idx="4">
                  <c:v>0.18518518518518781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FB1-485B-BE72-13766272FA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71383920"/>
        <c:axId val="571364240"/>
      </c:lineChart>
      <c:catAx>
        <c:axId val="571383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381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364240"/>
        <c:crosses val="autoZero"/>
        <c:auto val="1"/>
        <c:lblAlgn val="ctr"/>
        <c:lblOffset val="100"/>
        <c:noMultiLvlLbl val="0"/>
      </c:catAx>
      <c:valAx>
        <c:axId val="571364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383920"/>
        <c:crosses val="autoZero"/>
        <c:crossBetween val="between"/>
      </c:valAx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0.59855451383076708"/>
          <c:y val="0.44999163425739674"/>
          <c:w val="0.37751272829606214"/>
          <c:h val="0.2266832704306122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0334" tIns="45167" rIns="90334" bIns="45167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0334" tIns="45167" rIns="90334" bIns="45167" rtlCol="0"/>
          <a:lstStyle>
            <a:lvl1pPr algn="r">
              <a:defRPr sz="1200"/>
            </a:lvl1pPr>
          </a:lstStyle>
          <a:p>
            <a:fld id="{B8D8914D-0A92-4960-A041-D4489FDE9DA7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30213" y="739775"/>
            <a:ext cx="58753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34" tIns="45167" rIns="90334" bIns="45167" rtlCol="0" anchor="ctr"/>
          <a:lstStyle/>
          <a:p>
            <a:endParaRPr 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0334" tIns="45167" rIns="90334" bIns="45167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0334" tIns="45167" rIns="90334" bIns="45167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0334" tIns="45167" rIns="90334" bIns="45167" rtlCol="0" anchor="b"/>
          <a:lstStyle>
            <a:lvl1pPr algn="r">
              <a:defRPr sz="1200"/>
            </a:lvl1pPr>
          </a:lstStyle>
          <a:p>
            <a:fld id="{12B84BF8-3AE9-420E-B6F8-24B55D9C57FC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31800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64235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96035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28470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60270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92070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3024505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56305" algn="l" defTabSz="864235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430213" y="739775"/>
            <a:ext cx="5875337" cy="3700463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715500" cy="612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文字版面配置區 19"/>
          <p:cNvSpPr>
            <a:spLocks noGrp="1"/>
          </p:cNvSpPr>
          <p:nvPr>
            <p:ph type="body" sz="quarter" idx="10" hasCustomPrompt="1"/>
          </p:nvPr>
        </p:nvSpPr>
        <p:spPr>
          <a:xfrm>
            <a:off x="7381205" y="3967336"/>
            <a:ext cx="1944217" cy="288925"/>
          </a:xfrm>
        </p:spPr>
        <p:txBody>
          <a:bodyPr anchor="ctr">
            <a:noAutofit/>
          </a:bodyPr>
          <a:lstStyle>
            <a:lvl1pPr marL="0" indent="0" algn="r">
              <a:buNone/>
              <a:defRPr sz="1400"/>
            </a:lvl1pPr>
          </a:lstStyle>
          <a:p>
            <a:pPr lvl="0"/>
            <a:r>
              <a:rPr lang="en-US" altLang="zh-TW" dirty="0"/>
              <a:t>Click to Edit </a:t>
            </a:r>
            <a:r>
              <a:rPr lang="en-US" dirty="0"/>
              <a:t>Date</a:t>
            </a:r>
          </a:p>
        </p:txBody>
      </p:sp>
      <p:sp>
        <p:nvSpPr>
          <p:cNvPr id="21" name="文字版面配置區 19"/>
          <p:cNvSpPr>
            <a:spLocks noGrp="1"/>
          </p:cNvSpPr>
          <p:nvPr>
            <p:ph type="body" sz="quarter" idx="11" hasCustomPrompt="1"/>
          </p:nvPr>
        </p:nvSpPr>
        <p:spPr>
          <a:xfrm>
            <a:off x="7021165" y="4787999"/>
            <a:ext cx="2304529" cy="288925"/>
          </a:xfrm>
        </p:spPr>
        <p:txBody>
          <a:bodyPr anchor="ctr">
            <a:noAutofit/>
          </a:bodyPr>
          <a:lstStyle>
            <a:lvl1pPr marL="0" indent="0" algn="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sp>
        <p:nvSpPr>
          <p:cNvPr id="22" name="文字版面配置區 19"/>
          <p:cNvSpPr>
            <a:spLocks noGrp="1"/>
          </p:cNvSpPr>
          <p:nvPr>
            <p:ph type="body" sz="quarter" idx="12" hasCustomPrompt="1"/>
          </p:nvPr>
        </p:nvSpPr>
        <p:spPr>
          <a:xfrm>
            <a:off x="756469" y="4254500"/>
            <a:ext cx="8568952" cy="536212"/>
          </a:xfrm>
        </p:spPr>
        <p:txBody>
          <a:bodyPr anchor="ctr">
            <a:noAutofit/>
          </a:bodyPr>
          <a:lstStyle>
            <a:lvl1pPr marL="0" indent="0" algn="r">
              <a:buNone/>
              <a:defRPr sz="24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Title &amp;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15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75" y="0"/>
            <a:ext cx="9715500" cy="612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7" name="標題 1"/>
          <p:cNvSpPr>
            <a:spLocks noGrp="1"/>
          </p:cNvSpPr>
          <p:nvPr>
            <p:ph type="title" hasCustomPrompt="1"/>
          </p:nvPr>
        </p:nvSpPr>
        <p:spPr>
          <a:xfrm>
            <a:off x="729139" y="2289414"/>
            <a:ext cx="8263573" cy="674800"/>
          </a:xfrm>
        </p:spPr>
        <p:txBody>
          <a:bodyPr anchor="ctr"/>
          <a:lstStyle>
            <a:lvl1pPr algn="ctr">
              <a:defRPr sz="3000" b="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Click to Edit Sub Title Text Styles</a:t>
            </a:r>
            <a:endParaRPr lang="zh-TW" altLang="en-US" dirty="0"/>
          </a:p>
        </p:txBody>
      </p:sp>
      <p:sp>
        <p:nvSpPr>
          <p:cNvPr id="8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1574799" y="3060700"/>
            <a:ext cx="6572253" cy="2056762"/>
          </a:xfrm>
        </p:spPr>
        <p:txBody>
          <a:bodyPr anchor="t">
            <a:normAutofit/>
          </a:bodyPr>
          <a:lstStyle>
            <a:lvl1pPr marL="431800" indent="-431800">
              <a:buFont typeface="Wingdings 3" panose="05040102010807070707" pitchFamily="18" charset="2"/>
              <a:buChar char=""/>
              <a:defRPr sz="2300">
                <a:solidFill>
                  <a:srgbClr val="0000CC"/>
                </a:solidFill>
              </a:defRPr>
            </a:lvl1pPr>
            <a:lvl2pPr marL="43180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642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2960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72847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6027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9207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302450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45630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 dirty="0"/>
              <a:t>Click to Edit Text Styles</a:t>
            </a:r>
          </a:p>
        </p:txBody>
      </p:sp>
      <p:cxnSp>
        <p:nvCxnSpPr>
          <p:cNvPr id="9" name="直線接點 8"/>
          <p:cNvCxnSpPr>
            <a:cxnSpLocks noChangeShapeType="1"/>
          </p:cNvCxnSpPr>
          <p:nvPr userDrawn="1"/>
        </p:nvCxnSpPr>
        <p:spPr bwMode="auto">
          <a:xfrm>
            <a:off x="763414" y="2996936"/>
            <a:ext cx="8232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4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86093" y="746842"/>
            <a:ext cx="8749665" cy="4788000"/>
          </a:xfrm>
        </p:spPr>
        <p:txBody>
          <a:bodyPr/>
          <a:lstStyle/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 hasCustomPrompt="1"/>
          </p:nvPr>
        </p:nvSpPr>
        <p:spPr>
          <a:xfrm>
            <a:off x="486093" y="746842"/>
            <a:ext cx="429381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 hasCustomPrompt="1"/>
          </p:nvPr>
        </p:nvSpPr>
        <p:spPr>
          <a:xfrm>
            <a:off x="4941940" y="746842"/>
            <a:ext cx="429381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Horizontal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 hasCustomPrompt="1"/>
          </p:nvPr>
        </p:nvSpPr>
        <p:spPr>
          <a:xfrm>
            <a:off x="482758" y="746843"/>
            <a:ext cx="8756335" cy="2340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5" name="內容版面配置區 2"/>
          <p:cNvSpPr>
            <a:spLocks noGrp="1"/>
          </p:cNvSpPr>
          <p:nvPr>
            <p:ph sz="half" idx="10" hasCustomPrompt="1"/>
          </p:nvPr>
        </p:nvSpPr>
        <p:spPr>
          <a:xfrm>
            <a:off x="482758" y="3151958"/>
            <a:ext cx="8756335" cy="2340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ertical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486093" y="168379"/>
            <a:ext cx="8749665" cy="449867"/>
          </a:xfrm>
        </p:spPr>
        <p:txBody>
          <a:bodyPr/>
          <a:lstStyle/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 hasCustomPrompt="1"/>
          </p:nvPr>
        </p:nvSpPr>
        <p:spPr>
          <a:xfrm>
            <a:off x="486093" y="746843"/>
            <a:ext cx="2861792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5" name="內容版面配置區 2"/>
          <p:cNvSpPr>
            <a:spLocks noGrp="1"/>
          </p:cNvSpPr>
          <p:nvPr>
            <p:ph sz="half" idx="10" hasCustomPrompt="1"/>
          </p:nvPr>
        </p:nvSpPr>
        <p:spPr>
          <a:xfrm>
            <a:off x="3430029" y="746843"/>
            <a:ext cx="2861792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6" name="內容版面配置區 2"/>
          <p:cNvSpPr>
            <a:spLocks noGrp="1"/>
          </p:cNvSpPr>
          <p:nvPr>
            <p:ph sz="half" idx="11" hasCustomPrompt="1"/>
          </p:nvPr>
        </p:nvSpPr>
        <p:spPr>
          <a:xfrm>
            <a:off x="6373965" y="746843"/>
            <a:ext cx="2861792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ertical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0" hasCustomPrompt="1"/>
          </p:nvPr>
        </p:nvSpPr>
        <p:spPr>
          <a:xfrm>
            <a:off x="479422" y="746843"/>
            <a:ext cx="215517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</a:lstStyle>
          <a:p>
            <a:pPr lvl="0"/>
            <a:r>
              <a:rPr lang="en-US" altLang="zh-TW" dirty="0"/>
              <a:t>Click to Edit Text</a:t>
            </a:r>
          </a:p>
          <a:p>
            <a:pPr lvl="1"/>
            <a:r>
              <a:rPr lang="en-US" altLang="zh-TW" dirty="0"/>
              <a:t>Second level</a:t>
            </a:r>
          </a:p>
        </p:txBody>
      </p:sp>
      <p:sp>
        <p:nvSpPr>
          <p:cNvPr id="6" name="內容版面配置區 4"/>
          <p:cNvSpPr>
            <a:spLocks noGrp="1"/>
          </p:cNvSpPr>
          <p:nvPr>
            <p:ph sz="quarter" idx="12" hasCustomPrompt="1"/>
          </p:nvPr>
        </p:nvSpPr>
        <p:spPr>
          <a:xfrm>
            <a:off x="2682031" y="746843"/>
            <a:ext cx="215517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</a:lstStyle>
          <a:p>
            <a:pPr lvl="0"/>
            <a:r>
              <a:rPr lang="en-US" altLang="zh-TW" dirty="0"/>
              <a:t>Click to Edit Text</a:t>
            </a:r>
          </a:p>
          <a:p>
            <a:pPr lvl="1"/>
            <a:r>
              <a:rPr lang="en-US" altLang="zh-TW" dirty="0"/>
              <a:t>Second level</a:t>
            </a:r>
          </a:p>
        </p:txBody>
      </p:sp>
      <p:sp>
        <p:nvSpPr>
          <p:cNvPr id="9" name="內容版面配置區 4"/>
          <p:cNvSpPr>
            <a:spLocks noGrp="1"/>
          </p:cNvSpPr>
          <p:nvPr>
            <p:ph sz="quarter" idx="14" hasCustomPrompt="1"/>
          </p:nvPr>
        </p:nvSpPr>
        <p:spPr>
          <a:xfrm>
            <a:off x="4884641" y="746843"/>
            <a:ext cx="215517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</a:lstStyle>
          <a:p>
            <a:pPr lvl="0"/>
            <a:r>
              <a:rPr lang="en-US" altLang="zh-TW" dirty="0"/>
              <a:t>Click to Edit Text</a:t>
            </a:r>
          </a:p>
          <a:p>
            <a:pPr lvl="1"/>
            <a:r>
              <a:rPr lang="en-US" altLang="zh-TW" dirty="0"/>
              <a:t>Second level</a:t>
            </a:r>
          </a:p>
        </p:txBody>
      </p:sp>
      <p:sp>
        <p:nvSpPr>
          <p:cNvPr id="10" name="內容版面配置區 4"/>
          <p:cNvSpPr>
            <a:spLocks noGrp="1"/>
          </p:cNvSpPr>
          <p:nvPr>
            <p:ph sz="quarter" idx="15" hasCustomPrompt="1"/>
          </p:nvPr>
        </p:nvSpPr>
        <p:spPr>
          <a:xfrm>
            <a:off x="7087250" y="746843"/>
            <a:ext cx="2155177" cy="478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</a:lstStyle>
          <a:p>
            <a:pPr lvl="0"/>
            <a:r>
              <a:rPr lang="en-US" altLang="zh-TW" dirty="0"/>
              <a:t>Click to Edit Text</a:t>
            </a:r>
          </a:p>
          <a:p>
            <a:pPr lvl="1"/>
            <a:r>
              <a:rPr lang="en-US" altLang="zh-TW" dirty="0"/>
              <a:t>Second level</a:t>
            </a:r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內容版面配置區 2"/>
          <p:cNvSpPr>
            <a:spLocks noGrp="1"/>
          </p:cNvSpPr>
          <p:nvPr>
            <p:ph sz="half" idx="12" hasCustomPrompt="1"/>
          </p:nvPr>
        </p:nvSpPr>
        <p:spPr>
          <a:xfrm>
            <a:off x="4932933" y="756444"/>
            <a:ext cx="4293817" cy="2376264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7" name="內容版面配置區 2"/>
          <p:cNvSpPr>
            <a:spLocks noGrp="1"/>
          </p:cNvSpPr>
          <p:nvPr>
            <p:ph sz="half" idx="11" hasCustomPrompt="1"/>
          </p:nvPr>
        </p:nvSpPr>
        <p:spPr>
          <a:xfrm>
            <a:off x="485268" y="756444"/>
            <a:ext cx="4293817" cy="2376264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6" name="內容版面配置區 2"/>
          <p:cNvSpPr>
            <a:spLocks noGrp="1"/>
          </p:cNvSpPr>
          <p:nvPr>
            <p:ph sz="half" idx="10" hasCustomPrompt="1"/>
          </p:nvPr>
        </p:nvSpPr>
        <p:spPr>
          <a:xfrm>
            <a:off x="485268" y="3132708"/>
            <a:ext cx="4293817" cy="2376264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9" name="內容版面配置區 2"/>
          <p:cNvSpPr>
            <a:spLocks noGrp="1"/>
          </p:cNvSpPr>
          <p:nvPr>
            <p:ph sz="half" idx="13" hasCustomPrompt="1"/>
          </p:nvPr>
        </p:nvSpPr>
        <p:spPr>
          <a:xfrm>
            <a:off x="4932933" y="3132708"/>
            <a:ext cx="4293817" cy="2376264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486093" y="746843"/>
            <a:ext cx="4295505" cy="449917"/>
          </a:xfrm>
        </p:spPr>
        <p:txBody>
          <a:bodyPr anchor="b"/>
          <a:lstStyle>
            <a:lvl1pPr marL="0" indent="0">
              <a:buNone/>
              <a:defRPr sz="2300" b="0"/>
            </a:lvl1pPr>
            <a:lvl2pPr marL="431800" indent="0">
              <a:buNone/>
              <a:defRPr sz="190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00" b="1"/>
            </a:lvl4pPr>
            <a:lvl5pPr marL="1728470" indent="0">
              <a:buNone/>
              <a:defRPr sz="1500" b="1"/>
            </a:lvl5pPr>
            <a:lvl6pPr marL="2160270" indent="0">
              <a:buNone/>
              <a:defRPr sz="1500" b="1"/>
            </a:lvl6pPr>
            <a:lvl7pPr marL="2592070" indent="0">
              <a:buNone/>
              <a:defRPr sz="1500" b="1"/>
            </a:lvl7pPr>
            <a:lvl8pPr marL="3024505" indent="0">
              <a:buNone/>
              <a:defRPr sz="1500" b="1"/>
            </a:lvl8pPr>
            <a:lvl9pPr marL="3456305" indent="0">
              <a:buNone/>
              <a:defRPr sz="1500" b="1"/>
            </a:lvl9pPr>
          </a:lstStyle>
          <a:p>
            <a:pPr lvl="0"/>
            <a:r>
              <a:rPr lang="en-US" altLang="zh-TW" dirty="0"/>
              <a:t>Click to Edit Master Title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 hasCustomPrompt="1"/>
          </p:nvPr>
        </p:nvSpPr>
        <p:spPr>
          <a:xfrm>
            <a:off x="486093" y="1261033"/>
            <a:ext cx="4295505" cy="424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 hasCustomPrompt="1"/>
          </p:nvPr>
        </p:nvSpPr>
        <p:spPr>
          <a:xfrm>
            <a:off x="4938565" y="746843"/>
            <a:ext cx="4297193" cy="449917"/>
          </a:xfrm>
        </p:spPr>
        <p:txBody>
          <a:bodyPr anchor="b"/>
          <a:lstStyle>
            <a:lvl1pPr marL="0" indent="0">
              <a:buNone/>
              <a:defRPr sz="2300" b="0"/>
            </a:lvl1pPr>
            <a:lvl2pPr marL="431800" indent="0">
              <a:buNone/>
              <a:defRPr sz="190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00" b="1"/>
            </a:lvl4pPr>
            <a:lvl5pPr marL="1728470" indent="0">
              <a:buNone/>
              <a:defRPr sz="1500" b="1"/>
            </a:lvl5pPr>
            <a:lvl6pPr marL="2160270" indent="0">
              <a:buNone/>
              <a:defRPr sz="1500" b="1"/>
            </a:lvl6pPr>
            <a:lvl7pPr marL="2592070" indent="0">
              <a:buNone/>
              <a:defRPr sz="1500" b="1"/>
            </a:lvl7pPr>
            <a:lvl8pPr marL="3024505" indent="0">
              <a:buNone/>
              <a:defRPr sz="1500" b="1"/>
            </a:lvl8pPr>
            <a:lvl9pPr marL="3456305" indent="0">
              <a:buNone/>
              <a:defRPr sz="1500" b="1"/>
            </a:lvl9pPr>
          </a:lstStyle>
          <a:p>
            <a:pPr lvl="0"/>
            <a:r>
              <a:rPr lang="en-US" altLang="zh-TW" dirty="0"/>
              <a:t>Click to Edit Master Title</a:t>
            </a:r>
            <a:endParaRPr lang="zh-TW" altLang="en-US" dirty="0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 hasCustomPrompt="1"/>
          </p:nvPr>
        </p:nvSpPr>
        <p:spPr>
          <a:xfrm>
            <a:off x="4938565" y="1261033"/>
            <a:ext cx="4297193" cy="4248000"/>
          </a:xfrm>
        </p:spPr>
        <p:txBody>
          <a:bodyPr>
            <a:normAutofit/>
          </a:bodyPr>
          <a:lstStyle>
            <a:lvl1pPr>
              <a:defRPr sz="1900"/>
            </a:lvl1pPr>
            <a:lvl2pPr>
              <a:defRPr sz="1900"/>
            </a:lvl2pPr>
            <a:lvl3pPr>
              <a:defRPr sz="1900"/>
            </a:lvl3pPr>
            <a:lvl4pPr>
              <a:defRPr sz="19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0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15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75" y="0"/>
            <a:ext cx="9715500" cy="612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C:\Users\anne_chou\Desktop\PPT template\BK_03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8" y="0"/>
            <a:ext cx="9717087" cy="6119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376" y="755729"/>
            <a:ext cx="9696533" cy="6045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3" tIns="45716" rIns="91433" bIns="45716"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6" name="矩形 5"/>
          <p:cNvSpPr/>
          <p:nvPr/>
        </p:nvSpPr>
        <p:spPr>
          <a:xfrm>
            <a:off x="3376" y="5679299"/>
            <a:ext cx="9718474" cy="43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3" tIns="45716" rIns="91433" bIns="45716"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8184143" y="5884256"/>
            <a:ext cx="1537707" cy="23714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" name="矩形 7"/>
          <p:cNvSpPr/>
          <p:nvPr userDrawn="1"/>
        </p:nvSpPr>
        <p:spPr>
          <a:xfrm>
            <a:off x="3376" y="755729"/>
            <a:ext cx="9696533" cy="6045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3" tIns="45716" rIns="91433" bIns="45716"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pic>
        <p:nvPicPr>
          <p:cNvPr id="9" name="Picture 3"/>
          <p:cNvPicPr>
            <a:picLocks noChangeAspect="1" noChangeArrowheads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181394" y="5686196"/>
            <a:ext cx="4171949" cy="442101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0" name="矩形 9"/>
          <p:cNvSpPr/>
          <p:nvPr userDrawn="1"/>
        </p:nvSpPr>
        <p:spPr>
          <a:xfrm>
            <a:off x="3376" y="5679299"/>
            <a:ext cx="9718474" cy="43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3" tIns="45716" rIns="91433" bIns="45716" anchor="ctr"/>
          <a:lstStyle/>
          <a:p>
            <a:pPr algn="ctr" eaLnBrk="1" hangingPunct="1">
              <a:defRPr/>
            </a:pPr>
            <a:endParaRPr lang="zh-TW" altLang="en-US"/>
          </a:p>
        </p:txBody>
      </p:sp>
      <p:pic>
        <p:nvPicPr>
          <p:cNvPr id="11" name="Picture 4"/>
          <p:cNvPicPr>
            <a:picLocks noChangeAspect="1" noChangeArrowheads="1"/>
          </p:cNvPicPr>
          <p:nvPr userDrawn="1"/>
        </p:nvPicPr>
        <p:blipFill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8184143" y="5884256"/>
            <a:ext cx="1537707" cy="23714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81394" y="154863"/>
            <a:ext cx="9288043" cy="576064"/>
          </a:xfrm>
          <a:prstGeom prst="rect">
            <a:avLst/>
          </a:prstGeom>
        </p:spPr>
        <p:txBody>
          <a:bodyPr lIns="91433" tIns="45716" rIns="91433" bIns="45716"/>
          <a:lstStyle>
            <a:lvl1pPr algn="l">
              <a:defRPr sz="400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5"/>
          </p:nvPr>
        </p:nvSpPr>
        <p:spPr>
          <a:xfrm>
            <a:off x="252413" y="1004538"/>
            <a:ext cx="9217024" cy="4504434"/>
          </a:xfrm>
          <a:prstGeom prst="rect">
            <a:avLst/>
          </a:prstGeom>
        </p:spPr>
        <p:txBody>
          <a:bodyPr lIns="91433" tIns="45716" rIns="91433" bIns="45716"/>
          <a:lstStyle>
            <a:lvl1pPr marL="199390" indent="-279400">
              <a:lnSpc>
                <a:spcPct val="80000"/>
              </a:lnSpc>
              <a:defRPr sz="2900" b="1" i="0">
                <a:latin typeface="+mj-lt"/>
                <a:cs typeface="Times New Roman" panose="02020603050405020304" pitchFamily="18" charset="0"/>
              </a:defRPr>
            </a:lvl1pPr>
            <a:lvl2pPr marL="518795" indent="-279400">
              <a:lnSpc>
                <a:spcPct val="100000"/>
              </a:lnSpc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758190" indent="-279400">
              <a:lnSpc>
                <a:spcPct val="100000"/>
              </a:lnSpc>
              <a:buSzPct val="85000"/>
              <a:buFont typeface="Wingdings" panose="05000000000000000000" pitchFamily="2" charset="2"/>
              <a:buChar char="Ø"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998220" indent="-279400">
              <a:lnSpc>
                <a:spcPct val="100000"/>
              </a:lnSpc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517015" indent="-199390">
              <a:lnSpc>
                <a:spcPct val="10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2" name="投影片編號版面配置區 5"/>
          <p:cNvSpPr>
            <a:spLocks noGrp="1"/>
          </p:cNvSpPr>
          <p:nvPr>
            <p:ph type="sldNum" sz="quarter" idx="16"/>
          </p:nvPr>
        </p:nvSpPr>
        <p:spPr>
          <a:xfrm>
            <a:off x="6877872" y="5709528"/>
            <a:ext cx="2268432" cy="326853"/>
          </a:xfrm>
          <a:prstGeom prst="rect">
            <a:avLst/>
          </a:prstGeom>
        </p:spPr>
        <p:txBody>
          <a:bodyPr vert="horz" wrap="square" lIns="91433" tIns="45716" rIns="91433" bIns="45716" numCol="1" anchor="t" anchorCtr="0" compatLnSpc="1"/>
          <a:lstStyle>
            <a:lvl1pPr algn="r" eaLnBrk="1" hangingPunct="1">
              <a:defRPr sz="1200">
                <a:solidFill>
                  <a:srgbClr val="7F7F7F"/>
                </a:solidFill>
              </a:defRPr>
            </a:lvl1pPr>
          </a:lstStyle>
          <a:p>
            <a:pPr>
              <a:defRPr/>
            </a:pPr>
            <a:fld id="{A984752B-CB23-4150-B7D7-ACF4D3B438E8}" type="slidenum">
              <a:rPr lang="zh-TW" altLang="en-US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PEGATR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圖片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75" y="0"/>
            <a:ext cx="9715500" cy="61214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219" name="圖片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75" y="0"/>
            <a:ext cx="9715500" cy="61214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內容版面配置區 7"/>
          <p:cNvSpPr>
            <a:spLocks noGrp="1"/>
          </p:cNvSpPr>
          <p:nvPr>
            <p:ph sz="quarter" idx="11"/>
          </p:nvPr>
        </p:nvSpPr>
        <p:spPr>
          <a:xfrm>
            <a:off x="323850" y="324396"/>
            <a:ext cx="3457575" cy="5048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sz="2800"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defRPr>
            </a:lvl1pPr>
            <a:lvl2pPr marL="457200" indent="0">
              <a:buNone/>
              <a:defRPr sz="2800"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defRPr>
            </a:lvl2pPr>
          </a:lstStyle>
          <a:p>
            <a:pPr lvl="0"/>
            <a:r>
              <a:rPr lang="zh-TW" altLang="en-US" noProof="1"/>
              <a:t>按一下以編輯母片文字樣式</a:t>
            </a:r>
          </a:p>
        </p:txBody>
      </p:sp>
      <p:sp>
        <p:nvSpPr>
          <p:cNvPr id="10" name="內容版面配置區 9"/>
          <p:cNvSpPr>
            <a:spLocks noGrp="1"/>
          </p:cNvSpPr>
          <p:nvPr>
            <p:ph sz="quarter" idx="12"/>
          </p:nvPr>
        </p:nvSpPr>
        <p:spPr>
          <a:xfrm>
            <a:off x="323850" y="827782"/>
            <a:ext cx="4249738" cy="504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i="0">
                <a:solidFill>
                  <a:schemeClr val="accent1">
                    <a:lumMod val="75000"/>
                  </a:schemeClr>
                </a:solidFill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defRPr>
            </a:lvl1pPr>
            <a:lvl2pPr marL="457200" indent="0">
              <a:buNone/>
              <a:defRPr sz="1600" i="1">
                <a:solidFill>
                  <a:schemeClr val="accent1">
                    <a:lumMod val="75000"/>
                  </a:schemeClr>
                </a:solidFill>
              </a:defRPr>
            </a:lvl2pPr>
            <a:lvl3pPr marL="914400" indent="0">
              <a:buNone/>
              <a:defRPr sz="1600" i="1">
                <a:solidFill>
                  <a:schemeClr val="accent1">
                    <a:lumMod val="75000"/>
                  </a:schemeClr>
                </a:solidFill>
              </a:defRPr>
            </a:lvl3pPr>
            <a:lvl4pPr marL="1371600" indent="0">
              <a:buNone/>
              <a:defRPr sz="1600" i="1">
                <a:solidFill>
                  <a:schemeClr val="accent1">
                    <a:lumMod val="75000"/>
                  </a:schemeClr>
                </a:solidFill>
              </a:defRPr>
            </a:lvl4pPr>
            <a:lvl5pPr marL="1828800" indent="0">
              <a:buNone/>
              <a:defRPr sz="1600" i="1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/>
            <a:r>
              <a:rPr lang="zh-TW" altLang="en-US" noProof="1"/>
              <a:t>按一下以編輯母片文字樣式</a:t>
            </a:r>
          </a:p>
        </p:txBody>
      </p:sp>
      <p:sp>
        <p:nvSpPr>
          <p:cNvPr id="12" name="內容版面配置區 11"/>
          <p:cNvSpPr>
            <a:spLocks noGrp="1"/>
          </p:cNvSpPr>
          <p:nvPr>
            <p:ph sz="quarter" idx="13"/>
          </p:nvPr>
        </p:nvSpPr>
        <p:spPr>
          <a:xfrm>
            <a:off x="323850" y="1332458"/>
            <a:ext cx="9001125" cy="41045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 noProof="1"/>
              <a:t>按一下以編輯母片文字樣式</a:t>
            </a:r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/>
          <a:p>
            <a:pPr algn="r"/>
            <a:fld id="{9A0DB2DC-4C9A-4742-B13C-FB6460FD3503}" type="slidenum">
              <a:rPr lang="zh-TW" altLang="en-US" dirty="0">
                <a:latin typeface="Calibri" panose="020F0502020204030204" charset="0"/>
              </a:rPr>
              <a:t>‹#›</a:t>
            </a:fld>
            <a:endParaRPr lang="zh-TW" altLang="en-US" dirty="0">
              <a:latin typeface="Calibri" panose="020F050202020403020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5"/>
          <p:cNvPicPr>
            <a:picLocks noChangeAspect="1"/>
          </p:cNvPicPr>
          <p:nvPr userDrawn="1"/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3175" y="0"/>
            <a:ext cx="9715500" cy="612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86093" y="168379"/>
            <a:ext cx="8749665" cy="449867"/>
          </a:xfrm>
          <a:prstGeom prst="rect">
            <a:avLst/>
          </a:prstGeom>
        </p:spPr>
        <p:txBody>
          <a:bodyPr vert="horz" lIns="86411" tIns="43205" rIns="86411" bIns="43205" rtlCol="0" anchor="ctr">
            <a:noAutofit/>
          </a:bodyPr>
          <a:lstStyle/>
          <a:p>
            <a:r>
              <a:rPr lang="en-US" altLang="zh-TW" dirty="0"/>
              <a:t>Click to Edit Title Text Styles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86093" y="746842"/>
            <a:ext cx="8749665" cy="4788000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/>
          <a:p>
            <a:pPr lvl="0"/>
            <a:r>
              <a:rPr lang="en-US" altLang="zh-TW" dirty="0"/>
              <a:t>Click to Edit Text Styles</a:t>
            </a:r>
          </a:p>
          <a:p>
            <a:pPr lvl="1"/>
            <a:r>
              <a:rPr lang="en-US" altLang="zh-TW" dirty="0"/>
              <a:t>Second Level</a:t>
            </a:r>
            <a:endParaRPr lang="zh-TW" altLang="en-US" dirty="0"/>
          </a:p>
          <a:p>
            <a:pPr lvl="2"/>
            <a:r>
              <a:rPr lang="en-US" altLang="zh-TW" dirty="0"/>
              <a:t>Third Level</a:t>
            </a:r>
            <a:endParaRPr lang="zh-TW" altLang="en-US" dirty="0"/>
          </a:p>
          <a:p>
            <a:pPr lvl="3"/>
            <a:r>
              <a:rPr lang="en-US" altLang="zh-TW" dirty="0"/>
              <a:t>Forth Level</a:t>
            </a:r>
            <a:endParaRPr lang="zh-TW" altLang="en-US" dirty="0"/>
          </a:p>
        </p:txBody>
      </p:sp>
      <p:cxnSp>
        <p:nvCxnSpPr>
          <p:cNvPr id="12" name="直線接點 11"/>
          <p:cNvCxnSpPr>
            <a:cxnSpLocks noChangeShapeType="1"/>
          </p:cNvCxnSpPr>
          <p:nvPr userDrawn="1"/>
        </p:nvCxnSpPr>
        <p:spPr bwMode="auto">
          <a:xfrm>
            <a:off x="269692" y="682569"/>
            <a:ext cx="9182467" cy="64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7035800" y="5664200"/>
            <a:ext cx="2268538" cy="325438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latin typeface="Calibri" panose="020F050202020403020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01F805CC-F6C3-4C6F-8E01-17D391709BDD}" type="slidenum">
              <a:rPr lang="zh-TW" altLang="en-US" smtClean="0"/>
              <a:t>‹#›</a:t>
            </a:fld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864235" rtl="0" eaLnBrk="1" latinLnBrk="0" hangingPunct="1">
        <a:spcBef>
          <a:spcPct val="0"/>
        </a:spcBef>
        <a:buNone/>
        <a:defRPr sz="2600" kern="1200" baseline="0">
          <a:solidFill>
            <a:schemeClr val="tx1"/>
          </a:solidFill>
          <a:latin typeface="Century Gothic" panose="020B0502020202020204" pitchFamily="34" charset="0"/>
          <a:ea typeface="微軟正黑體" panose="020B0604030504040204" pitchFamily="34" charset="-120"/>
          <a:cs typeface="+mj-cs"/>
        </a:defRPr>
      </a:lvl1pPr>
    </p:titleStyle>
    <p:bodyStyle>
      <a:lvl1pPr marL="323850" indent="-323850" algn="l" defTabSz="864235" rtl="0" eaLnBrk="1" latinLnBrk="0" hangingPunct="1">
        <a:spcBef>
          <a:spcPct val="20000"/>
        </a:spcBef>
        <a:buFont typeface="Wingdings" panose="05000000000000000000" pitchFamily="2" charset="2"/>
        <a:buChar char="v"/>
        <a:defRPr sz="1900" kern="1200" baseline="0">
          <a:solidFill>
            <a:schemeClr val="tx1">
              <a:lumMod val="75000"/>
              <a:lumOff val="25000"/>
            </a:schemeClr>
          </a:solidFill>
          <a:latin typeface="Century Gothic" panose="020B0502020202020204" pitchFamily="34" charset="0"/>
          <a:ea typeface="微軟正黑體" panose="020B0604030504040204" pitchFamily="34" charset="-120"/>
          <a:cs typeface="+mn-cs"/>
        </a:defRPr>
      </a:lvl1pPr>
      <a:lvl2pPr marL="702310" indent="-269875" algn="l" defTabSz="864235" rtl="0" eaLnBrk="1" latinLnBrk="0" hangingPunct="1">
        <a:spcBef>
          <a:spcPct val="20000"/>
        </a:spcBef>
        <a:buFont typeface="Wingdings" panose="05000000000000000000" pitchFamily="2" charset="2"/>
        <a:buChar char="Ø"/>
        <a:defRPr sz="1900" kern="1200" baseline="0">
          <a:solidFill>
            <a:schemeClr val="tx1">
              <a:lumMod val="75000"/>
              <a:lumOff val="25000"/>
            </a:schemeClr>
          </a:solidFill>
          <a:latin typeface="Century Gothic" panose="020B0502020202020204" pitchFamily="34" charset="0"/>
          <a:ea typeface="微軟正黑體" panose="020B0604030504040204" pitchFamily="34" charset="-120"/>
          <a:cs typeface="+mn-cs"/>
        </a:defRPr>
      </a:lvl2pPr>
      <a:lvl3pPr marL="1080135" indent="-215900" algn="l" defTabSz="864235" rtl="0" eaLnBrk="1" latinLnBrk="0" hangingPunct="1">
        <a:spcBef>
          <a:spcPct val="20000"/>
        </a:spcBef>
        <a:buFont typeface="Wingdings" panose="05000000000000000000" pitchFamily="2" charset="2"/>
        <a:buChar char="§"/>
        <a:defRPr sz="1900" kern="1200" baseline="0">
          <a:solidFill>
            <a:schemeClr val="tx1">
              <a:lumMod val="75000"/>
              <a:lumOff val="25000"/>
            </a:schemeClr>
          </a:solidFill>
          <a:latin typeface="Century Gothic" panose="020B0502020202020204" pitchFamily="34" charset="0"/>
          <a:ea typeface="微軟正黑體" panose="020B0604030504040204" pitchFamily="34" charset="-120"/>
          <a:cs typeface="+mn-cs"/>
        </a:defRPr>
      </a:lvl3pPr>
      <a:lvl4pPr marL="1511935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 baseline="0">
          <a:solidFill>
            <a:schemeClr val="tx1">
              <a:lumMod val="75000"/>
              <a:lumOff val="25000"/>
            </a:schemeClr>
          </a:solidFill>
          <a:latin typeface="Century Gothic" panose="020B0502020202020204" pitchFamily="34" charset="0"/>
          <a:ea typeface="微軟正黑體" panose="020B0604030504040204" pitchFamily="34" charset="-120"/>
          <a:cs typeface="+mn-cs"/>
        </a:defRPr>
      </a:lvl4pPr>
      <a:lvl5pPr marL="1944370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 baseline="0">
          <a:solidFill>
            <a:schemeClr val="tx1">
              <a:lumMod val="75000"/>
              <a:lumOff val="25000"/>
            </a:schemeClr>
          </a:solidFill>
          <a:latin typeface="Century Gothic" panose="020B0502020202020204" pitchFamily="34" charset="0"/>
          <a:ea typeface="微軟正黑體" panose="020B0604030504040204" pitchFamily="34" charset="-120"/>
          <a:cs typeface="+mn-cs"/>
        </a:defRPr>
      </a:lvl5pPr>
      <a:lvl6pPr marL="2376170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205" indent="-215900" algn="l" defTabSz="864235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0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3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kprecision.com/knowledge/how-tos/2/how-to-use-an-lcr-meter" TargetMode="Externa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文字版面配置區 3"/>
          <p:cNvSpPr>
            <a:spLocks noGrp="1"/>
          </p:cNvSpPr>
          <p:nvPr>
            <p:ph type="body" sz="quarter" idx="12"/>
          </p:nvPr>
        </p:nvSpPr>
        <p:spPr>
          <a:xfrm>
            <a:off x="396429" y="2988692"/>
            <a:ext cx="8920350" cy="957813"/>
          </a:xfrm>
        </p:spPr>
        <p:txBody>
          <a:bodyPr vert="horz" wrap="square" lIns="86411" tIns="43205" rIns="86411" bIns="43205" anchor="ctr"/>
          <a:lstStyle/>
          <a:p>
            <a:pPr algn="ctr" defTabSz="863600" eaLnBrk="1" hangingPunct="1">
              <a:buClrTx/>
              <a:buSzTx/>
            </a:pPr>
            <a:r>
              <a:rPr lang="en-US" altLang="zh-TW" sz="3600" kern="1200" dirty="0">
                <a:latin typeface="+mj-lt"/>
                <a:ea typeface="微軟正黑體" panose="020B0604030504040204" pitchFamily="34" charset="-120"/>
                <a:cs typeface="+mj-lt"/>
              </a:rPr>
              <a:t>RLC Measurement Introduction</a:t>
            </a:r>
          </a:p>
        </p:txBody>
      </p:sp>
      <p:sp>
        <p:nvSpPr>
          <p:cNvPr id="3" name="文字版面配置區 3"/>
          <p:cNvSpPr txBox="1"/>
          <p:nvPr/>
        </p:nvSpPr>
        <p:spPr>
          <a:xfrm>
            <a:off x="8029277" y="4572868"/>
            <a:ext cx="1584176" cy="957813"/>
          </a:xfrm>
          <a:prstGeom prst="rect">
            <a:avLst/>
          </a:prstGeom>
        </p:spPr>
        <p:txBody>
          <a:bodyPr vert="horz" wrap="square" lIns="86411" tIns="43205" rIns="86411" bIns="43205" rtlCol="0" anchor="ctr">
            <a:noAutofit/>
          </a:bodyPr>
          <a:lstStyle>
            <a:lvl1pPr marL="0" indent="0" algn="r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2400" b="1" kern="1200" baseline="0">
                <a:solidFill>
                  <a:schemeClr val="tx1"/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3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863600"/>
            <a:endParaRPr lang="en-US" altLang="zh-TW" sz="1400" dirty="0"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FB175B-196D-1084-82FB-8732186C76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8911336" cy="4788000"/>
          </a:xfrm>
        </p:spPr>
        <p:txBody>
          <a:bodyPr/>
          <a:lstStyle/>
          <a:p>
            <a:r>
              <a:rPr lang="en-US" dirty="0">
                <a:latin typeface="+mn-lt"/>
              </a:rPr>
              <a:t>Introduction</a:t>
            </a:r>
          </a:p>
          <a:p>
            <a:r>
              <a:rPr lang="en-US" dirty="0">
                <a:latin typeface="+mn-lt"/>
              </a:rPr>
              <a:t>Measurement Methods</a:t>
            </a:r>
          </a:p>
          <a:p>
            <a:r>
              <a:rPr lang="en-US" dirty="0">
                <a:latin typeface="+mn-lt"/>
              </a:rPr>
              <a:t>Auto-Balancing Bridge (LCR)</a:t>
            </a:r>
          </a:p>
          <a:p>
            <a:r>
              <a:rPr lang="en-US" dirty="0">
                <a:latin typeface="+mn-lt"/>
              </a:rPr>
              <a:t>Network Analysis (VNA)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11268" name="投影片編號版面配置區 3"/>
          <p:cNvSpPr txBox="1">
            <a:spLocks noGrp="1"/>
          </p:cNvSpPr>
          <p:nvPr>
            <p:ph type="sldNum" sz="quarter" idx="4294967295"/>
          </p:nvPr>
        </p:nvSpPr>
        <p:spPr>
          <a:xfrm>
            <a:off x="7453313" y="5664200"/>
            <a:ext cx="2268537" cy="32543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lvl="0" indent="0" algn="r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200" b="0" i="0" u="none" kern="1200" baseline="0">
                <a:solidFill>
                  <a:srgbClr val="7F7F7F"/>
                </a:solidFill>
                <a:latin typeface="Calibri" panose="020F0502020204030204" charset="0"/>
                <a:ea typeface="新細明體" panose="02020500000000000000" charset="-120"/>
                <a:cs typeface="+mn-cs"/>
              </a:defRPr>
            </a:lvl1pPr>
            <a:lvl2pPr marL="431800" lvl="1" indent="254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2pPr>
            <a:lvl3pPr marL="863600" lvl="2" indent="508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3pPr>
            <a:lvl4pPr marL="1295400" lvl="3" indent="762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4pPr>
            <a:lvl5pPr marL="1727200" lvl="4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5pPr>
            <a:lvl6pPr marL="2286000" lvl="5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6pPr>
            <a:lvl7pPr marL="2743200" lvl="6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7pPr>
            <a:lvl8pPr marL="3200400" lvl="7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8pPr>
            <a:lvl9pPr marL="3657600" lvl="8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9pPr>
          </a:lstStyle>
          <a:p>
            <a:pPr lvl="0" algn="r" eaLnBrk="1" hangingPunct="1"/>
            <a:fld id="{9A0DB2DC-4C9A-4742-B13C-FB6460FD3503}" type="slidenum">
              <a:rPr lang="zh-TW" altLang="en-US" smtClean="0"/>
              <a:t>2</a:t>
            </a:fld>
            <a:endParaRPr lang="zh-TW" altLang="en-US" sz="1200" dirty="0">
              <a:solidFill>
                <a:srgbClr val="7F7F7F"/>
              </a:solidFill>
              <a:latin typeface="Calibri" panose="020F0502020204030204" charset="0"/>
            </a:endParaRPr>
          </a:p>
        </p:txBody>
      </p:sp>
      <p:sp>
        <p:nvSpPr>
          <p:cNvPr id="6146" name="內容版面配置區 1"/>
          <p:cNvSpPr>
            <a:spLocks noGrp="1"/>
          </p:cNvSpPr>
          <p:nvPr>
            <p:ph sz="quarter" idx="4294967295"/>
          </p:nvPr>
        </p:nvSpPr>
        <p:spPr>
          <a:xfrm>
            <a:off x="473075" y="190500"/>
            <a:ext cx="9248775" cy="504825"/>
          </a:xfrm>
          <a:noFill/>
          <a:ln>
            <a:noFill/>
          </a:ln>
        </p:spPr>
        <p:txBody>
          <a:bodyPr/>
          <a:lstStyle/>
          <a:p>
            <a:pPr marL="0" algn="l" eaLnBrk="1" hangingPunct="1">
              <a:spcBef>
                <a:spcPct val="20000"/>
              </a:spcBef>
              <a:buClrTx/>
              <a:buSzTx/>
              <a:buNone/>
            </a:pPr>
            <a:r>
              <a:rPr lang="en-US" altLang="zh-TW" sz="2600" b="1" dirty="0"/>
              <a:t>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35CFAB-A956-3689-C25F-B4CAF7AB7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63" y="3253670"/>
            <a:ext cx="4915586" cy="22482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219643-DFCE-7CC7-D816-4A10772CD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BFAB4-9A5C-E73B-79A5-D870F94648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429" y="746842"/>
            <a:ext cx="9217024" cy="4788000"/>
          </a:xfrm>
        </p:spPr>
        <p:txBody>
          <a:bodyPr/>
          <a:lstStyle/>
          <a:p>
            <a:r>
              <a:rPr lang="en-US" sz="1600" dirty="0">
                <a:latin typeface="+mn-lt"/>
              </a:rPr>
              <a:t>Impedance (Z) is the total opposition to current flow in an </a:t>
            </a:r>
            <a:r>
              <a:rPr lang="en-US" sz="1600" b="1" dirty="0">
                <a:latin typeface="+mn-lt"/>
              </a:rPr>
              <a:t>AC</a:t>
            </a:r>
            <a:r>
              <a:rPr lang="en-US" sz="1600" dirty="0">
                <a:latin typeface="+mn-lt"/>
              </a:rPr>
              <a:t> circuit. Made up of Resistance R (real) and Reactance X (imaginary) elements at a given frequency. Commonly used to represent series circuits</a:t>
            </a:r>
          </a:p>
          <a:p>
            <a:pPr lvl="1"/>
            <a:r>
              <a:rPr lang="en-US" sz="1600" dirty="0">
                <a:latin typeface="+mn-lt"/>
              </a:rPr>
              <a:t>Z = R +jX =|Z|∠</a:t>
            </a:r>
            <a:r>
              <a:rPr lang="el-GR" sz="1600" dirty="0">
                <a:latin typeface="+mn-lt"/>
              </a:rPr>
              <a:t>θ</a:t>
            </a:r>
            <a:endParaRPr lang="en-US" sz="1600" dirty="0">
              <a:latin typeface="+mn-lt"/>
            </a:endParaRPr>
          </a:p>
          <a:p>
            <a:r>
              <a:rPr lang="en-US" sz="1600" dirty="0">
                <a:latin typeface="+mn-lt"/>
              </a:rPr>
              <a:t>Admittance (Y) is the reciprocal of impedance, with G conductance and B susceptance. Commonly used to represent parallel circuits</a:t>
            </a:r>
          </a:p>
          <a:p>
            <a:r>
              <a:rPr lang="en-US" sz="1600" dirty="0"/>
              <a:t>Reactance (X) </a:t>
            </a:r>
          </a:p>
          <a:p>
            <a:pPr lvl="1"/>
            <a:r>
              <a:rPr lang="en-US" sz="1600" dirty="0"/>
              <a:t>X</a:t>
            </a:r>
            <a:r>
              <a:rPr lang="en-US" sz="1600" baseline="-25000" dirty="0"/>
              <a:t>L</a:t>
            </a:r>
            <a:r>
              <a:rPr lang="en-US" sz="1600" dirty="0"/>
              <a:t> = Inductive,  </a:t>
            </a:r>
            <a:r>
              <a:rPr lang="el-GR" sz="1600" dirty="0"/>
              <a:t>θ</a:t>
            </a:r>
            <a:r>
              <a:rPr lang="en-US" sz="1600" dirty="0"/>
              <a:t>&gt;0°</a:t>
            </a:r>
          </a:p>
          <a:p>
            <a:pPr lvl="1"/>
            <a:r>
              <a:rPr lang="en-US" sz="1600" dirty="0"/>
              <a:t>X</a:t>
            </a:r>
            <a:r>
              <a:rPr lang="en-US" sz="1600" baseline="-25000" dirty="0"/>
              <a:t>C</a:t>
            </a:r>
            <a:r>
              <a:rPr lang="en-US" sz="1600" dirty="0"/>
              <a:t> = Capacitive, </a:t>
            </a:r>
            <a:r>
              <a:rPr lang="el-GR" sz="1600" dirty="0"/>
              <a:t>θ</a:t>
            </a:r>
            <a:r>
              <a:rPr lang="en-US" sz="1600" dirty="0"/>
              <a:t>&lt;0°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60E31-AE30-5FA1-3AA7-37E24AF23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3</a:t>
            </a:fld>
            <a:endParaRPr lang="zh-TW" alt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871FF59-65AA-AFFD-DD99-A16520EE3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105" y="3436465"/>
            <a:ext cx="4525252" cy="19485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945FD0-0113-0288-A048-AFDB12BEED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49" y="2052588"/>
            <a:ext cx="3998324" cy="1411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8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B718C-701F-9338-8EF8-B457593A2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ABB3-41BE-0AD7-D8A7-CEE89FA0F0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4</a:t>
            </a:fld>
            <a:endParaRPr lang="zh-TW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B303E5-5674-1218-F8C9-05616A02B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29" y="756444"/>
            <a:ext cx="8155637" cy="470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940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F8BEBD6-5AFB-C72F-4CFF-61F627242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930" y="3412663"/>
            <a:ext cx="2805818" cy="2189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736A0F-B85D-93EA-3CB9-FDCDC515C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98" y="969809"/>
            <a:ext cx="4374832" cy="19901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F4FFD9-ABBC-E0A0-ABE1-AA534F97F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Auto-Balancing Bridge Method Working Principal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703761-4B70-BAC2-0823-249D08DF8E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86093" y="746842"/>
                <a:ext cx="4293817" cy="58566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Using Z = V/I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703761-4B70-BAC2-0823-249D08DF8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86093" y="746842"/>
                <a:ext cx="4293817" cy="585666"/>
              </a:xfrm>
              <a:blipFill>
                <a:blip r:embed="rId4"/>
                <a:stretch>
                  <a:fillRect l="-1136"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5DE57E9-A435-89AF-8ED6-8832B33949C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960740" y="746842"/>
                <a:ext cx="4275017" cy="260406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Adding negative feedback loop to make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𝐼𝑥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, creating a virtual ground on low terminal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𝐼𝑟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𝑅𝑟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𝐼𝑥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𝑅𝑟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𝐼𝑥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𝑉𝑥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𝑍𝑥</m:t>
                        </m:r>
                      </m:den>
                    </m:f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𝑍𝑥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𝑉𝑥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𝐼𝑥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𝑅𝑟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𝑉𝑥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𝑉𝑟</m:t>
                        </m:r>
                      </m:den>
                    </m:f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𝑍𝑥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𝑉𝑥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𝑉𝑟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  <a:p>
                <a:pPr lvl="1"/>
                <a:r>
                  <a:rPr lang="en-US" sz="1300" dirty="0"/>
                  <a:t>Note: </a:t>
                </a:r>
                <a14:m>
                  <m:oMath xmlns:m="http://schemas.openxmlformats.org/officeDocument/2006/math">
                    <m:r>
                      <a:rPr lang="en-US" sz="1300" i="1">
                        <a:latin typeface="Cambria Math" panose="02040503050406030204" pitchFamily="18" charset="0"/>
                      </a:rPr>
                      <m:t>𝑅𝑟</m:t>
                    </m:r>
                  </m:oMath>
                </a14:m>
                <a:r>
                  <a:rPr lang="en-US" sz="1300" dirty="0"/>
                  <a:t> is removed due it is a known value</a:t>
                </a:r>
              </a:p>
              <a:p>
                <a:pPr lvl="1"/>
                <a:r>
                  <a:rPr lang="en-US" sz="1300" dirty="0"/>
                  <a:t>Only applicable for frequency below 100KHz due to Op amp performance limit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5DE57E9-A435-89AF-8ED6-8832B33949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960740" y="746842"/>
                <a:ext cx="4275017" cy="2604064"/>
              </a:xfrm>
              <a:blipFill>
                <a:blip r:embed="rId5"/>
                <a:stretch>
                  <a:fillRect l="-571" t="-2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9D765-0A94-0030-160A-7735BFEB0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5</a:t>
            </a:fld>
            <a:endParaRPr lang="zh-TW" alt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228003-DB8F-8C9E-041A-D7D6912B595F}"/>
              </a:ext>
            </a:extLst>
          </p:cNvPr>
          <p:cNvSpPr txBox="1">
            <a:spLocks/>
          </p:cNvSpPr>
          <p:nvPr/>
        </p:nvSpPr>
        <p:spPr>
          <a:xfrm>
            <a:off x="445585" y="3060700"/>
            <a:ext cx="4293817" cy="2376264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3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8C72C9A-8B4B-7188-9C94-128579BBB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195" y="2868086"/>
            <a:ext cx="2952328" cy="1979241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8EC844B-867B-55AE-E19A-286CEF5B7BB3}"/>
              </a:ext>
            </a:extLst>
          </p:cNvPr>
          <p:cNvSpPr txBox="1">
            <a:spLocks/>
          </p:cNvSpPr>
          <p:nvPr/>
        </p:nvSpPr>
        <p:spPr>
          <a:xfrm>
            <a:off x="365113" y="4816654"/>
            <a:ext cx="4293817" cy="585666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Auto Balancing Bridge using 1 Voltmeter</a:t>
            </a:r>
          </a:p>
          <a:p>
            <a:endParaRPr lang="en-US" sz="1400" dirty="0"/>
          </a:p>
          <a:p>
            <a:endParaRPr lang="en-US" sz="140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6109014-C5B1-CEF3-53BF-1DBC466B7AAD}"/>
              </a:ext>
            </a:extLst>
          </p:cNvPr>
          <p:cNvSpPr txBox="1">
            <a:spLocks/>
          </p:cNvSpPr>
          <p:nvPr/>
        </p:nvSpPr>
        <p:spPr>
          <a:xfrm>
            <a:off x="7098753" y="3857706"/>
            <a:ext cx="2205585" cy="1682980"/>
          </a:xfrm>
          <a:prstGeom prst="rect">
            <a:avLst/>
          </a:prstGeom>
        </p:spPr>
        <p:txBody>
          <a:bodyPr vert="horz" lIns="86411" tIns="43205" rIns="86411" bIns="43205" rtlCol="0">
            <a:normAutofit fontScale="77500" lnSpcReduction="20000"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Auto-Balancing bridge consists of null detector, 0°/90° phase detectors, vector modulator</a:t>
            </a:r>
          </a:p>
          <a:p>
            <a:r>
              <a:rPr lang="en-US" dirty="0"/>
              <a:t>For frequency up to 120 MHz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631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18FCF-1C45-6A68-1A00-207275B9C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Balancing Bridge Method (LCR Meter)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8AE80-C771-A204-EEE0-C38F4D214F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5454952" cy="4788000"/>
          </a:xfrm>
        </p:spPr>
        <p:txBody>
          <a:bodyPr/>
          <a:lstStyle/>
          <a:p>
            <a:r>
              <a:rPr lang="en-US" dirty="0"/>
              <a:t>Using HIOKI  IM3536 LCR meter</a:t>
            </a:r>
          </a:p>
          <a:p>
            <a:r>
              <a:rPr lang="en-US" dirty="0"/>
              <a:t>Using L2001 Pincher Probe</a:t>
            </a:r>
          </a:p>
          <a:p>
            <a:r>
              <a:rPr lang="en-US" dirty="0"/>
              <a:t>For general purpose measurements</a:t>
            </a:r>
          </a:p>
          <a:p>
            <a:r>
              <a:rPr lang="en-US" dirty="0"/>
              <a:t>Measurement range: DC, 4Hz ~ 8MHz</a:t>
            </a:r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Easier to use</a:t>
            </a:r>
          </a:p>
          <a:p>
            <a:pPr lvl="1"/>
            <a:r>
              <a:rPr lang="en-US" dirty="0"/>
              <a:t>Faster setup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Only for LF to HF </a:t>
            </a:r>
          </a:p>
          <a:p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E27EA9-BDF4-2FBB-7A15-4A44BFBCE2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599455" y="872923"/>
            <a:ext cx="3606417" cy="208823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926AE5-FA01-C332-DE20-C0D955F1DB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6</a:t>
            </a:fld>
            <a:endParaRPr lang="zh-TW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4571AC-1D02-8783-5C0A-61972760F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5810981" y="2182654"/>
            <a:ext cx="2493097" cy="410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8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C5CC7-7EB9-D23D-4FF2-7941F4920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Vs Parallel measurement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D2E5D-A7D7-AF75-23A9-EFEEDC2F5C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3078688" cy="144976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Series measurement</a:t>
            </a:r>
          </a:p>
          <a:p>
            <a:pPr lvl="1"/>
            <a:r>
              <a:rPr lang="en-US" dirty="0"/>
              <a:t>Low Z (&lt;100 Ω) </a:t>
            </a:r>
          </a:p>
          <a:p>
            <a:pPr lvl="1"/>
            <a:r>
              <a:rPr lang="en-US" dirty="0"/>
              <a:t>Large Capacitance </a:t>
            </a:r>
          </a:p>
          <a:p>
            <a:pPr lvl="1"/>
            <a:r>
              <a:rPr lang="en-US" dirty="0"/>
              <a:t>Low inductance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2312C9-2B5F-D620-AD69-73073A6D7A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7</a:t>
            </a:fld>
            <a:endParaRPr lang="zh-TW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81FFB8-1556-D39F-DB95-E34D367B07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4461" y="2193576"/>
            <a:ext cx="3295385" cy="330358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4D07427-E185-CB0E-E16C-806B7CDC2931}"/>
              </a:ext>
            </a:extLst>
          </p:cNvPr>
          <p:cNvSpPr txBox="1">
            <a:spLocks/>
          </p:cNvSpPr>
          <p:nvPr/>
        </p:nvSpPr>
        <p:spPr>
          <a:xfrm>
            <a:off x="4932933" y="688642"/>
            <a:ext cx="5400600" cy="1461885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Parallel Measurement</a:t>
            </a:r>
          </a:p>
          <a:p>
            <a:pPr lvl="1"/>
            <a:r>
              <a:rPr lang="en-US" dirty="0"/>
              <a:t>High Z (&gt;10K Ω)</a:t>
            </a:r>
          </a:p>
          <a:p>
            <a:pPr lvl="1"/>
            <a:r>
              <a:rPr lang="en-US" dirty="0"/>
              <a:t>Small Capacitance</a:t>
            </a:r>
          </a:p>
          <a:p>
            <a:pPr lvl="1"/>
            <a:r>
              <a:rPr lang="en-US" dirty="0"/>
              <a:t>High Inductance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34AB67-4C8E-8B73-0757-4161C02EC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989" y="2193576"/>
            <a:ext cx="2304256" cy="15791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070DEF-B23B-1959-339F-CD5742DA2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898" y="3815766"/>
            <a:ext cx="2385096" cy="154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40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62BC7-9A47-A9BA-1EC2-4C6DD7D99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Signal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BB41A-CA6F-2473-9A2B-0BFA266F34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8911336" cy="130574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Open circuit voltage (V) mode</a:t>
            </a:r>
          </a:p>
          <a:p>
            <a:pPr lvl="1"/>
            <a:r>
              <a:rPr lang="en-US" dirty="0"/>
              <a:t>Used for general measurement</a:t>
            </a:r>
          </a:p>
          <a:p>
            <a:r>
              <a:rPr lang="en-US" dirty="0"/>
              <a:t>Constant current (CC) mode</a:t>
            </a:r>
          </a:p>
          <a:p>
            <a:pPr lvl="1"/>
            <a:r>
              <a:rPr lang="en-US" dirty="0"/>
              <a:t>To measure DUT under a constant current</a:t>
            </a:r>
          </a:p>
          <a:p>
            <a:r>
              <a:rPr lang="en-US" dirty="0"/>
              <a:t>Constant voltage (CV) mode</a:t>
            </a:r>
          </a:p>
          <a:p>
            <a:pPr lvl="1"/>
            <a:r>
              <a:rPr lang="en-US" dirty="0"/>
              <a:t>To measure DUT under a constant Voltage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CF942-2606-BDE4-D0A5-B4A30CE16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8</a:t>
            </a:fld>
            <a:endParaRPr lang="zh-TW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10B508-6C17-B87C-E2E1-ED026F876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54" y="2182052"/>
            <a:ext cx="4664087" cy="284304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67C8846-1701-C7DA-09C9-CDCD7707A0E9}"/>
              </a:ext>
            </a:extLst>
          </p:cNvPr>
          <p:cNvSpPr txBox="1">
            <a:spLocks/>
          </p:cNvSpPr>
          <p:nvPr/>
        </p:nvSpPr>
        <p:spPr>
          <a:xfrm>
            <a:off x="5004941" y="875438"/>
            <a:ext cx="4078416" cy="1305746"/>
          </a:xfrm>
          <a:prstGeom prst="rect">
            <a:avLst/>
          </a:prstGeom>
        </p:spPr>
        <p:txBody>
          <a:bodyPr vert="horz" lIns="86411" tIns="43205" rIns="86411" bIns="43205" rtlCol="0">
            <a:normAutofit fontScale="85000" lnSpcReduction="10000"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Typical components are measured in open circuit voltage mode. </a:t>
            </a:r>
          </a:p>
          <a:p>
            <a:r>
              <a:rPr lang="en-US" dirty="0"/>
              <a:t>Refer to the datasheet for the measurement conditions</a:t>
            </a:r>
          </a:p>
          <a:p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D8E226D-237B-87FE-F77D-F2F418907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761" y="2260903"/>
            <a:ext cx="4644901" cy="373813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3CAF925-D816-2A7C-E7BE-39688393F9A3}"/>
              </a:ext>
            </a:extLst>
          </p:cNvPr>
          <p:cNvSpPr/>
          <p:nvPr/>
        </p:nvSpPr>
        <p:spPr>
          <a:xfrm>
            <a:off x="6517109" y="2389498"/>
            <a:ext cx="698376" cy="23915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283579-E0DF-399A-96B8-B61F3893994F}"/>
              </a:ext>
            </a:extLst>
          </p:cNvPr>
          <p:cNvSpPr/>
          <p:nvPr/>
        </p:nvSpPr>
        <p:spPr>
          <a:xfrm>
            <a:off x="8605341" y="2389497"/>
            <a:ext cx="799827" cy="23915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23F000-3FF9-38AD-E103-4C85ACBE6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4941" y="2947310"/>
            <a:ext cx="4288411" cy="539375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1446FA-D715-343E-18C6-1472B3B4F0E9}"/>
              </a:ext>
            </a:extLst>
          </p:cNvPr>
          <p:cNvSpPr/>
          <p:nvPr/>
        </p:nvSpPr>
        <p:spPr>
          <a:xfrm>
            <a:off x="5436989" y="3132708"/>
            <a:ext cx="432048" cy="14401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FFACF9E-7BFC-8B08-B6C3-527295025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711" y="3748056"/>
            <a:ext cx="2634870" cy="129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352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A2ACC-34A9-A0E3-14FB-03A709EBB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HIOKI IM3536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7C6C5-CE20-36A6-726E-0A483CF4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4293817" cy="2097834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Do Short and Open adjustment</a:t>
            </a:r>
          </a:p>
          <a:p>
            <a:r>
              <a:rPr lang="en-US" dirty="0"/>
              <a:t>Can do SPOT calibration for specific frequency or calibrate all frequency</a:t>
            </a:r>
          </a:p>
          <a:p>
            <a:r>
              <a:rPr lang="en-US" dirty="0"/>
              <a:t>Set cable length</a:t>
            </a:r>
          </a:p>
          <a:p>
            <a:r>
              <a:rPr lang="en-US" dirty="0"/>
              <a:t>Set measurement parameter (Frequency, Level, Range,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Set measurement display (Q, Z, </a:t>
            </a:r>
            <a:r>
              <a:rPr lang="en-US" dirty="0" err="1"/>
              <a:t>Lp</a:t>
            </a:r>
            <a:r>
              <a:rPr lang="en-US" dirty="0"/>
              <a:t>, Cs, Rs, </a:t>
            </a:r>
            <a:r>
              <a:rPr lang="en-US" dirty="0" err="1"/>
              <a:t>etc</a:t>
            </a:r>
            <a:r>
              <a:rPr lang="en-US" dirty="0"/>
              <a:t>)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0957E3-8E86-92C8-C416-73C2280AC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9</a:t>
            </a:fld>
            <a:endParaRPr lang="zh-TW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30D38F-DCA1-C50E-C59D-085A9802C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684" y="746842"/>
            <a:ext cx="2675116" cy="20621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DD8FD5-34D0-900C-A1F2-C242BB3DF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31" y="2939249"/>
            <a:ext cx="2915322" cy="20621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4FC7C9-F6DD-E0B6-7D39-8020F08C3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608" y="2939152"/>
            <a:ext cx="2822009" cy="2097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194238-3FDF-275D-AF8A-12B6CFD5BE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7265" y="2939152"/>
            <a:ext cx="2822008" cy="21201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FC8F0AD-1887-54AA-D63E-EAAD7CFD685E}"/>
              </a:ext>
            </a:extLst>
          </p:cNvPr>
          <p:cNvSpPr txBox="1"/>
          <p:nvPr/>
        </p:nvSpPr>
        <p:spPr>
          <a:xfrm>
            <a:off x="684461" y="5076924"/>
            <a:ext cx="20015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Spot calibration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08D623-6F61-AD44-7CE0-8B0455B55E17}"/>
              </a:ext>
            </a:extLst>
          </p:cNvPr>
          <p:cNvSpPr txBox="1"/>
          <p:nvPr/>
        </p:nvSpPr>
        <p:spPr>
          <a:xfrm>
            <a:off x="7755463" y="1188492"/>
            <a:ext cx="20015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Calibration screen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A272F8-0CCD-D15E-6B1D-4C9BE864AFDE}"/>
              </a:ext>
            </a:extLst>
          </p:cNvPr>
          <p:cNvSpPr txBox="1"/>
          <p:nvPr/>
        </p:nvSpPr>
        <p:spPr>
          <a:xfrm>
            <a:off x="3708797" y="5080599"/>
            <a:ext cx="20015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Cable length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489770-4DFE-078A-3711-9F695677CA36}"/>
              </a:ext>
            </a:extLst>
          </p:cNvPr>
          <p:cNvSpPr txBox="1"/>
          <p:nvPr/>
        </p:nvSpPr>
        <p:spPr>
          <a:xfrm>
            <a:off x="6413751" y="5076924"/>
            <a:ext cx="282200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Measurement parameter</a:t>
            </a:r>
          </a:p>
        </p:txBody>
      </p:sp>
    </p:spTree>
    <p:extLst>
      <p:ext uri="{BB962C8B-B14F-4D97-AF65-F5344CB8AC3E}">
        <p14:creationId xmlns:p14="http://schemas.microsoft.com/office/powerpoint/2010/main" val="197374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1DB20-941D-D473-3365-EDB8E355B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LCR Meter – Measurement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771CE-9F25-83A9-B7BD-532BC8B5AE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Measured 3 components, </a:t>
            </a:r>
          </a:p>
          <a:p>
            <a:pPr lvl="1"/>
            <a:r>
              <a:rPr lang="en-US" dirty="0"/>
              <a:t>LF 0.2uH Inductor (100KHz)</a:t>
            </a:r>
          </a:p>
          <a:p>
            <a:pPr lvl="2"/>
            <a:r>
              <a:rPr lang="en-US" dirty="0"/>
              <a:t>Measured 0.218 </a:t>
            </a:r>
            <a:r>
              <a:rPr lang="en-US" dirty="0" err="1"/>
              <a:t>uH</a:t>
            </a:r>
            <a:endParaRPr lang="en-US" dirty="0"/>
          </a:p>
          <a:p>
            <a:pPr lvl="2"/>
            <a:r>
              <a:rPr lang="en-US" dirty="0"/>
              <a:t>Error rate of 9%</a:t>
            </a:r>
          </a:p>
          <a:p>
            <a:pPr lvl="1"/>
            <a:r>
              <a:rPr lang="en-US" dirty="0"/>
              <a:t>HF 3.6nH Inductor (250MHz)</a:t>
            </a:r>
          </a:p>
          <a:p>
            <a:pPr lvl="2"/>
            <a:r>
              <a:rPr lang="en-US" dirty="0"/>
              <a:t>Measured at 8MHz </a:t>
            </a:r>
          </a:p>
          <a:p>
            <a:pPr lvl="2"/>
            <a:r>
              <a:rPr lang="en-US" dirty="0"/>
              <a:t>Measured 8.46nH</a:t>
            </a:r>
          </a:p>
          <a:p>
            <a:pPr lvl="2"/>
            <a:r>
              <a:rPr lang="en-US" dirty="0"/>
              <a:t>Error rate of 135%</a:t>
            </a:r>
          </a:p>
          <a:p>
            <a:pPr lvl="1"/>
            <a:r>
              <a:rPr lang="en-US" dirty="0"/>
              <a:t>HF 3.9 pF Capacitor (1MHz)</a:t>
            </a:r>
          </a:p>
          <a:p>
            <a:pPr lvl="2"/>
            <a:r>
              <a:rPr lang="en-US" dirty="0"/>
              <a:t>Measured at 1MHz</a:t>
            </a:r>
          </a:p>
          <a:p>
            <a:pPr lvl="2"/>
            <a:r>
              <a:rPr lang="en-US" dirty="0"/>
              <a:t>Measured 3.881pF</a:t>
            </a:r>
          </a:p>
          <a:p>
            <a:pPr lvl="2"/>
            <a:r>
              <a:rPr lang="en-US" dirty="0"/>
              <a:t>Error rate of -0.48%</a:t>
            </a:r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A5869-5989-8E98-F0D3-79CC21ECC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65182" y="828452"/>
            <a:ext cx="2016224" cy="4536504"/>
          </a:xfrm>
        </p:spPr>
        <p:txBody>
          <a:bodyPr/>
          <a:lstStyle/>
          <a:p>
            <a:r>
              <a:rPr lang="en-US" dirty="0"/>
              <a:t>0.2 </a:t>
            </a:r>
            <a:r>
              <a:rPr lang="en-US" dirty="0" err="1"/>
              <a:t>uH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3.6nH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3.9pF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B84A56-88E9-4F7C-0872-CE562ED72C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10</a:t>
            </a:fld>
            <a:endParaRPr lang="zh-TW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4FEC80-EEDF-53A5-3441-4574A2B9E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941" y="719667"/>
            <a:ext cx="2137901" cy="15548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E16DBE-48CD-6EB8-6AC4-44D9B55FC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939" y="3964881"/>
            <a:ext cx="2137901" cy="15692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C769CB4-FC99-2B7F-963D-EB16F223D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0947" y="2371749"/>
            <a:ext cx="2137901" cy="146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721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91EB0-30B6-9E73-5B92-3C6AE0F9B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Analysis Method (VNA)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A6ECE-6128-A66F-7F05-8B9C78D68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9199368" cy="212703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Measuring by using return loss and smith chart</a:t>
            </a:r>
          </a:p>
          <a:p>
            <a:r>
              <a:rPr lang="en-US" dirty="0"/>
              <a:t>Using VNA and fixture board</a:t>
            </a:r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Can measure from low frequency to RF depending on the VNA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Need to be calibrated for each frequency or value</a:t>
            </a:r>
          </a:p>
          <a:p>
            <a:pPr lvl="1"/>
            <a:r>
              <a:rPr lang="en-US" dirty="0"/>
              <a:t>Harder to do measurement (compared to LCR meter)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F66EBF-1E3E-F9F8-AB7F-8CA8C757B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11</a:t>
            </a:fld>
            <a:endParaRPr lang="zh-TW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0655F3-CE35-C620-8714-FE7D126E8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93" y="3110843"/>
            <a:ext cx="2836044" cy="176650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B0A2F0-AA6F-86B2-D46A-DAE14835A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055127" y="2533532"/>
            <a:ext cx="2127032" cy="2836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8EE95B1-EF1C-AE58-201C-FF58A57665FE}"/>
              </a:ext>
            </a:extLst>
          </p:cNvPr>
          <p:cNvSpPr txBox="1"/>
          <p:nvPr/>
        </p:nvSpPr>
        <p:spPr>
          <a:xfrm>
            <a:off x="1020107" y="5088621"/>
            <a:ext cx="2788430" cy="360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Keysight VNA P9373B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F0D91-D6EF-7BCB-238E-E5D69B79058E}"/>
              </a:ext>
            </a:extLst>
          </p:cNvPr>
          <p:cNvSpPr txBox="1"/>
          <p:nvPr/>
        </p:nvSpPr>
        <p:spPr>
          <a:xfrm>
            <a:off x="5719059" y="5159615"/>
            <a:ext cx="2817606" cy="360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Fixture board</a:t>
            </a:r>
          </a:p>
        </p:txBody>
      </p:sp>
    </p:spTree>
    <p:extLst>
      <p:ext uri="{BB962C8B-B14F-4D97-AF65-F5344CB8AC3E}">
        <p14:creationId xmlns:p14="http://schemas.microsoft.com/office/powerpoint/2010/main" val="161750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A4BA6-0FFC-0EF8-CD5E-67097B71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Keysight VNA P9373B Setup – Inductor measurement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3D93C-EFB0-959F-8EDD-0D713421C3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4421" y="828451"/>
            <a:ext cx="4293817" cy="2088233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Setup span and markers for the desired frequency</a:t>
            </a:r>
          </a:p>
          <a:p>
            <a:r>
              <a:rPr lang="en-US" sz="1400" dirty="0"/>
              <a:t>For Inductor measurement, calibrate using 0 Ohm resistor</a:t>
            </a:r>
          </a:p>
          <a:p>
            <a:r>
              <a:rPr lang="en-US" sz="1400" dirty="0"/>
              <a:t>Calibrate port extension to make the marker at 0 Ohm</a:t>
            </a:r>
          </a:p>
          <a:p>
            <a:r>
              <a:rPr lang="en-US" sz="1400" dirty="0"/>
              <a:t>Measure a known component to fine tune the port extension</a:t>
            </a:r>
          </a:p>
          <a:p>
            <a:pPr lvl="1"/>
            <a:r>
              <a:rPr lang="en-US" sz="1400" dirty="0"/>
              <a:t>The closer value of known component to the DUT, the more accurate the measurement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990C8-F339-68DE-0D7D-17FC9151C0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12</a:t>
            </a:fld>
            <a:endParaRPr lang="zh-TW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89882F-1828-87D8-9396-6900E8CDF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75" y="3140842"/>
            <a:ext cx="2869866" cy="18936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A51A90E-62BC-73CF-2678-C398B1EA9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893" y="2916684"/>
            <a:ext cx="3417036" cy="2160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A0FA655-E23F-9702-051B-33C45C8E81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065754" y="2988692"/>
            <a:ext cx="2863326" cy="208823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ACC6065-C84F-6BF7-59C8-46B91D5C4871}"/>
              </a:ext>
            </a:extLst>
          </p:cNvPr>
          <p:cNvSpPr txBox="1"/>
          <p:nvPr/>
        </p:nvSpPr>
        <p:spPr>
          <a:xfrm>
            <a:off x="684461" y="5076924"/>
            <a:ext cx="20015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calibration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EE1867-FA7C-B5D8-FB67-A900618A5AD2}"/>
              </a:ext>
            </a:extLst>
          </p:cNvPr>
          <p:cNvSpPr txBox="1"/>
          <p:nvPr/>
        </p:nvSpPr>
        <p:spPr>
          <a:xfrm>
            <a:off x="3496621" y="5076924"/>
            <a:ext cx="218554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short calibration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E35E86-310C-BEF4-9107-AA571F623C87}"/>
              </a:ext>
            </a:extLst>
          </p:cNvPr>
          <p:cNvSpPr txBox="1"/>
          <p:nvPr/>
        </p:nvSpPr>
        <p:spPr>
          <a:xfrm>
            <a:off x="6639295" y="5031383"/>
            <a:ext cx="2088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Port Extension time calibration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FF0DCDD-273F-BA5B-953E-0A2034859D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957" y="828451"/>
            <a:ext cx="2553777" cy="18936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D7085E5-AAE3-B5F8-47A4-19265D11CEC2}"/>
              </a:ext>
            </a:extLst>
          </p:cNvPr>
          <p:cNvSpPr txBox="1"/>
          <p:nvPr/>
        </p:nvSpPr>
        <p:spPr>
          <a:xfrm>
            <a:off x="7855536" y="1307302"/>
            <a:ext cx="154778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Short calibration using 0 Ohm resistor</a:t>
            </a:r>
          </a:p>
        </p:txBody>
      </p:sp>
    </p:spTree>
    <p:extLst>
      <p:ext uri="{BB962C8B-B14F-4D97-AF65-F5344CB8AC3E}">
        <p14:creationId xmlns:p14="http://schemas.microsoft.com/office/powerpoint/2010/main" val="964245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DE1F6-C7A1-EA12-F6BB-49D36BEF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BE0C-C7E3-FECC-E66F-5F1B88580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437" y="168379"/>
            <a:ext cx="8767321" cy="449867"/>
          </a:xfrm>
        </p:spPr>
        <p:txBody>
          <a:bodyPr/>
          <a:lstStyle/>
          <a:p>
            <a:r>
              <a:rPr lang="en-US" sz="2400" dirty="0"/>
              <a:t>Keysight VNA P9373B Setup – Capacitor measurement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D547-2E6B-DA65-910D-18A97FA2C5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4421" y="828451"/>
            <a:ext cx="4293817" cy="2088233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Setup span and markers for the desired frequency</a:t>
            </a:r>
          </a:p>
          <a:p>
            <a:r>
              <a:rPr lang="en-US" sz="1400" dirty="0"/>
              <a:t>For Capacitor measurement, Open calibration without component</a:t>
            </a:r>
          </a:p>
          <a:p>
            <a:r>
              <a:rPr lang="en-US" sz="1400" dirty="0"/>
              <a:t>Calibrate port extension to make the marker at 0 Ohm</a:t>
            </a:r>
          </a:p>
          <a:p>
            <a:r>
              <a:rPr lang="en-US" sz="1400" dirty="0"/>
              <a:t>Measure a known component to fine tune the port extension</a:t>
            </a:r>
          </a:p>
          <a:p>
            <a:pPr lvl="1"/>
            <a:r>
              <a:rPr lang="en-US" sz="1400" dirty="0"/>
              <a:t>The closer value of known component to the DUT, the more accurate the measurement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C69BE4-D749-B507-8BE3-67425F624D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13</a:t>
            </a:fld>
            <a:endParaRPr lang="zh-TW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110854-3B20-68DB-0568-9C6AD8BF3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75" y="3140842"/>
            <a:ext cx="2869866" cy="18936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41D3731-081D-0661-2ED6-5A5F7D345320}"/>
              </a:ext>
            </a:extLst>
          </p:cNvPr>
          <p:cNvSpPr txBox="1"/>
          <p:nvPr/>
        </p:nvSpPr>
        <p:spPr>
          <a:xfrm>
            <a:off x="684461" y="5076924"/>
            <a:ext cx="200159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calibration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F2DE3E-9FD1-0742-CA1A-EE96FD9F5349}"/>
              </a:ext>
            </a:extLst>
          </p:cNvPr>
          <p:cNvSpPr txBox="1"/>
          <p:nvPr/>
        </p:nvSpPr>
        <p:spPr>
          <a:xfrm>
            <a:off x="3496621" y="5076924"/>
            <a:ext cx="218554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open calibration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0DED3B-4588-8193-240F-2386B0CC60AD}"/>
              </a:ext>
            </a:extLst>
          </p:cNvPr>
          <p:cNvSpPr txBox="1"/>
          <p:nvPr/>
        </p:nvSpPr>
        <p:spPr>
          <a:xfrm>
            <a:off x="6639295" y="5031383"/>
            <a:ext cx="20882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Port Extension time calibration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624CC1-30D2-A9FE-5DC6-18A50D292854}"/>
              </a:ext>
            </a:extLst>
          </p:cNvPr>
          <p:cNvSpPr txBox="1"/>
          <p:nvPr/>
        </p:nvSpPr>
        <p:spPr>
          <a:xfrm>
            <a:off x="4806773" y="2532529"/>
            <a:ext cx="214646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Open calibration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EBE5EF-DB37-A8A0-9A30-00854F90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176" y="887779"/>
            <a:ext cx="2123066" cy="16365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5DA5ED-9CA9-26D9-FCED-F56047C29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182" y="887779"/>
            <a:ext cx="2016224" cy="16303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8807D5-749E-B7FD-C97D-284145555EE7}"/>
              </a:ext>
            </a:extLst>
          </p:cNvPr>
          <p:cNvSpPr txBox="1"/>
          <p:nvPr/>
        </p:nvSpPr>
        <p:spPr>
          <a:xfrm>
            <a:off x="7016836" y="2536169"/>
            <a:ext cx="242090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Capacitor measurement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58758B-1E8B-A7CF-68B1-C9225D06DE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741" y="3141033"/>
            <a:ext cx="2870531" cy="18903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5A01282-5F67-28DB-C725-C24E08C647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093" y="3125253"/>
            <a:ext cx="2778690" cy="1909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227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CC48-1A13-B763-B2CC-122AE38CF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Analysis Method – Inductor Measurement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CAEC33-67F3-2CC5-7D5E-AA7780DE7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56518" y="746842"/>
            <a:ext cx="2084927" cy="4788000"/>
          </a:xfrm>
        </p:spPr>
        <p:txBody>
          <a:bodyPr/>
          <a:lstStyle/>
          <a:p>
            <a:r>
              <a:rPr lang="en-US" dirty="0"/>
              <a:t>Measuring 3.2nH Inductor from 50MHz to 300MHz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4D03D2-F430-A9D0-D028-2CC39306DB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73FFC8-500A-DC01-F3AF-C99085E14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13" y="776651"/>
            <a:ext cx="7204105" cy="473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569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6609F-E1BC-E8CD-9C70-3F87C1BC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BC462-AD8F-4B2F-0F9F-A3DCD9BF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Analysis Method – Capacitor Measurement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8780BA-7B70-E302-B238-B18F60A9B2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15</a:t>
            </a:fld>
            <a:endParaRPr lang="zh-TW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6FAB5B-1FBA-BE35-8697-EAC7CBA09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47" y="752041"/>
            <a:ext cx="6860870" cy="4778363"/>
          </a:xfrm>
          <a:prstGeom prst="rect">
            <a:avLst/>
          </a:prstGeom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CF61366-0500-8F1C-A4E6-66DF8DE72207}"/>
              </a:ext>
            </a:extLst>
          </p:cNvPr>
          <p:cNvSpPr txBox="1">
            <a:spLocks/>
          </p:cNvSpPr>
          <p:nvPr/>
        </p:nvSpPr>
        <p:spPr>
          <a:xfrm>
            <a:off x="7381205" y="876200"/>
            <a:ext cx="2084927" cy="4788000"/>
          </a:xfrm>
          <a:prstGeom prst="rect">
            <a:avLst/>
          </a:prstGeom>
        </p:spPr>
        <p:txBody>
          <a:bodyPr vert="horz" lIns="86411" tIns="43205" rIns="86411" bIns="43205" rtlCol="0">
            <a:normAutofit/>
          </a:bodyPr>
          <a:lstStyle>
            <a:lvl1pPr marL="323850" indent="-32385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v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1pPr>
            <a:lvl2pPr marL="702310" indent="-269875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Ø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2pPr>
            <a:lvl3pPr marL="1080135" indent="-215900" algn="l" defTabSz="864235" rtl="0" eaLnBrk="1" latinLnBrk="0" hangingPunct="1">
              <a:spcBef>
                <a:spcPct val="20000"/>
              </a:spcBef>
              <a:buFont typeface="Wingdings" panose="05000000000000000000" pitchFamily="2" charset="2"/>
              <a:buChar char="§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3pPr>
            <a:lvl4pPr marL="151193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9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4pPr>
            <a:lvl5pPr marL="19443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7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ea typeface="微軟正黑體" panose="020B0604030504040204" pitchFamily="34" charset="-120"/>
                <a:cs typeface="+mn-cs"/>
              </a:defRPr>
            </a:lvl5pPr>
            <a:lvl6pPr marL="2376170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86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404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72205" indent="-215900" algn="l" defTabSz="864235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Measuring 8.2pF Capacitor from 50MHz to 300MHz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6090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11EE-227E-DAC6-A819-C8BA8C111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B070C-27A3-827E-81EB-FAFBE07ED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Analysis Method – Measurement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78747-517E-F9EB-F34B-A7BED6A0A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429" y="746842"/>
            <a:ext cx="9145016" cy="14497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Measured 3.3nH, 5.6nH, 27nH, 47nH, 56nH at 250MHz</a:t>
            </a:r>
          </a:p>
          <a:p>
            <a:r>
              <a:rPr lang="en-US" dirty="0"/>
              <a:t>Measured twice, with 10ps and -28ps Port extension delay</a:t>
            </a:r>
          </a:p>
          <a:p>
            <a:pPr lvl="1"/>
            <a:r>
              <a:rPr lang="en-US" sz="1600" dirty="0"/>
              <a:t>10ps delay is calibrated for 3.3nH </a:t>
            </a:r>
          </a:p>
          <a:p>
            <a:pPr lvl="1"/>
            <a:r>
              <a:rPr lang="en-US" sz="1600" dirty="0"/>
              <a:t>-28ps delay is calibrated for 56nH</a:t>
            </a:r>
          </a:p>
          <a:p>
            <a:r>
              <a:rPr lang="en-US" dirty="0"/>
              <a:t>Delta and Error is increasing the further the value is from the calibrated value.</a:t>
            </a:r>
          </a:p>
          <a:p>
            <a:r>
              <a:rPr lang="en-US" dirty="0"/>
              <a:t>Better to calibrate measurement closer to the expected value of DUT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01447-C3F2-0F05-4AFB-8B9D1F9EB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16</a:t>
            </a:fld>
            <a:endParaRPr lang="zh-TW" altLang="en-US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11DD9AB-74E9-FE86-F326-C49B1D9D29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2770786"/>
              </p:ext>
            </p:extLst>
          </p:nvPr>
        </p:nvGraphicFramePr>
        <p:xfrm>
          <a:off x="5160563" y="2704755"/>
          <a:ext cx="4561287" cy="27621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868A0DA-B27E-8A22-808A-E42A352D5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78" y="2988692"/>
            <a:ext cx="4729231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380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D5D94-E627-E436-CB92-F612C08F1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Analysis Method – Measurement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49090-0D73-2545-C257-4AA6A797C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9127360" cy="1943100"/>
          </a:xfrm>
        </p:spPr>
        <p:txBody>
          <a:bodyPr>
            <a:normAutofit fontScale="92500"/>
          </a:bodyPr>
          <a:lstStyle/>
          <a:p>
            <a:r>
              <a:rPr lang="en-US" dirty="0"/>
              <a:t>Measured 0.3pF, 1pF, 2.7pF, 8.2pF, 27pF at 250MHz</a:t>
            </a:r>
          </a:p>
          <a:p>
            <a:r>
              <a:rPr lang="en-US" dirty="0"/>
              <a:t>Measured twice, with 32ps and 56ps Port extension delay</a:t>
            </a:r>
          </a:p>
          <a:p>
            <a:pPr lvl="1"/>
            <a:r>
              <a:rPr lang="en-US" sz="1600" dirty="0"/>
              <a:t>32ps delay is calibrated for 0.3pF </a:t>
            </a:r>
          </a:p>
          <a:p>
            <a:pPr lvl="1"/>
            <a:r>
              <a:rPr lang="en-US" sz="1600" dirty="0"/>
              <a:t>56ps delay is calibrated for 27pF</a:t>
            </a:r>
          </a:p>
          <a:p>
            <a:r>
              <a:rPr lang="en-US" dirty="0"/>
              <a:t>Delta and Error is increasing the further the value is from the calibrated value.</a:t>
            </a:r>
          </a:p>
          <a:p>
            <a:r>
              <a:rPr lang="en-US" dirty="0"/>
              <a:t>Better to calibrate measurement closer to the expected value of DUT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23B7D5-292C-53A7-3312-DB057B28E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17</a:t>
            </a:fld>
            <a:endParaRPr lang="zh-TW" altLang="en-US" dirty="0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0EA0620C-0B73-4876-8A4D-85AF1D1568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18922254"/>
              </p:ext>
            </p:extLst>
          </p:nvPr>
        </p:nvGraphicFramePr>
        <p:xfrm>
          <a:off x="5220965" y="2844676"/>
          <a:ext cx="4104455" cy="25922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EF79008A-7260-3744-BFE6-1A167173E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3" y="3060700"/>
            <a:ext cx="4892308" cy="216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49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5AC65-483C-1CD7-CECF-DCFCAA8A8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5A1DF-AD28-CDEE-6DEC-D37C987F0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6093" y="746842"/>
            <a:ext cx="9055352" cy="4788000"/>
          </a:xfrm>
        </p:spPr>
        <p:txBody>
          <a:bodyPr/>
          <a:lstStyle/>
          <a:p>
            <a:r>
              <a:rPr lang="en-US" dirty="0"/>
              <a:t>Keysight Impedance Measurement Handbook</a:t>
            </a:r>
          </a:p>
          <a:p>
            <a:r>
              <a:rPr lang="en-US" dirty="0" err="1"/>
              <a:t>Hioki</a:t>
            </a:r>
            <a:r>
              <a:rPr lang="en-US" dirty="0"/>
              <a:t> IM3536 Manual</a:t>
            </a:r>
          </a:p>
          <a:p>
            <a:r>
              <a:rPr lang="en-US" dirty="0">
                <a:hlinkClick r:id="rId2"/>
              </a:rPr>
              <a:t>https://www.bkprecision.com/knowledge/how-tos/2/how-to-use-an-lcr-meter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2B32A-61DC-B73A-A7FE-B4A5AA015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1F805CC-F6C3-4C6F-8E01-17D391709BDD}" type="slidenum">
              <a:rPr lang="zh-TW" altLang="en-US" smtClean="0"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8864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投影片編號版面配置區 4"/>
          <p:cNvSpPr txBox="1">
            <a:spLocks noGrp="1"/>
          </p:cNvSpPr>
          <p:nvPr>
            <p:ph type="sldNum" sz="quarter" idx="4"/>
          </p:nvPr>
        </p:nvSpPr>
        <p:spPr>
          <a:noFill/>
          <a:ln>
            <a:noFill/>
          </a:ln>
        </p:spPr>
        <p:txBody>
          <a:bodyPr/>
          <a:lstStyle>
            <a:lvl1pPr marL="0" lvl="0" indent="0" algn="l" defTabSz="8636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431800" lvl="1" indent="254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2pPr>
            <a:lvl3pPr marL="863600" lvl="2" indent="508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3pPr>
            <a:lvl4pPr marL="1295400" lvl="3" indent="762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4pPr>
            <a:lvl5pPr marL="1727200" lvl="4" indent="101600" algn="l" defTabSz="863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17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  <a:cs typeface="+mn-cs"/>
              </a:defRPr>
            </a:lvl5pPr>
          </a:lstStyle>
          <a:p>
            <a:pPr lvl="0" algn="r" eaLnBrk="1" hangingPunct="1"/>
            <a:fld id="{9A0DB2DC-4C9A-4742-B13C-FB6460FD3503}" type="slidenum">
              <a:rPr lang="zh-TW" altLang="en-US" sz="1200" dirty="0">
                <a:latin typeface="Calibri" panose="020F0502020204030204" charset="0"/>
              </a:rPr>
              <a:t>19</a:t>
            </a:fld>
            <a:endParaRPr lang="zh-TW" altLang="en-US" sz="1200" dirty="0">
              <a:latin typeface="Calibri" panose="020F0502020204030204" charset="0"/>
            </a:endParaRPr>
          </a:p>
        </p:txBody>
      </p:sp>
      <p:pic>
        <p:nvPicPr>
          <p:cNvPr id="26627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" y="0"/>
            <a:ext cx="9715500" cy="61214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blinds dir="vert"/>
      </p:transition>
    </mc:Choice>
    <mc:Fallback xmlns="">
      <p:transition>
        <p:blinds dir="vert"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角度">
      <a:dk1>
        <a:srgbClr val="000000"/>
      </a:dk1>
      <a:lt1>
        <a:srgbClr val="FFFFFF"/>
      </a:lt1>
      <a:dk2>
        <a:srgbClr val="434342"/>
      </a:dk2>
      <a:lt2>
        <a:srgbClr val="CDD7D9"/>
      </a:lt2>
      <a:accent1>
        <a:srgbClr val="797B7E"/>
      </a:accent1>
      <a:accent2>
        <a:srgbClr val="F96A1B"/>
      </a:accent2>
      <a:accent3>
        <a:srgbClr val="08A1D9"/>
      </a:accent3>
      <a:accent4>
        <a:srgbClr val="7C984A"/>
      </a:accent4>
      <a:accent5>
        <a:srgbClr val="C2AD8D"/>
      </a:accent5>
      <a:accent6>
        <a:srgbClr val="506E94"/>
      </a:accent6>
      <a:hlink>
        <a:srgbClr val="5F5F5F"/>
      </a:hlink>
      <a:folHlink>
        <a:srgbClr val="96969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06C9BF5E94733946BFB1054EBF682B0B" ma:contentTypeVersion="11" ma:contentTypeDescription="建立新的文件。" ma:contentTypeScope="" ma:versionID="0785f276dd64c3516953b77d56d4a99f">
  <xsd:schema xmlns:xsd="http://www.w3.org/2001/XMLSchema" xmlns:xs="http://www.w3.org/2001/XMLSchema" xmlns:p="http://schemas.microsoft.com/office/2006/metadata/properties" xmlns:ns3="95d6a8a8-0e06-4f59-ba37-5bc72aef1495" xmlns:ns4="1451e576-93db-4781-9b41-9628aef1b4a1" targetNamespace="http://schemas.microsoft.com/office/2006/metadata/properties" ma:root="true" ma:fieldsID="eb4a70900015f01b32c7e98cc477ca44" ns3:_="" ns4:_="">
    <xsd:import namespace="95d6a8a8-0e06-4f59-ba37-5bc72aef1495"/>
    <xsd:import namespace="1451e576-93db-4781-9b41-9628aef1b4a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d6a8a8-0e06-4f59-ba37-5bc72aef14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51e576-93db-4781-9b41-9628aef1b4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用對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用詳細資料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共用提示雜湊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0955DD6-CBD5-4B9C-955C-0094BC90DC5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d6a8a8-0e06-4f59-ba37-5bc72aef1495"/>
    <ds:schemaRef ds:uri="1451e576-93db-4781-9b41-9628aef1b4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CB7362-22AC-4CAB-B41C-0690F8EF5A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A1EAC2-1E77-4FF2-ADA1-B2AAE374C020}">
  <ds:schemaRefs>
    <ds:schemaRef ds:uri="1451e576-93db-4781-9b41-9628aef1b4a1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  <ds:schemaRef ds:uri="95d6a8a8-0e06-4f59-ba37-5bc72aef1495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25683</TotalTime>
  <Words>884</Words>
  <Application>Microsoft Office PowerPoint</Application>
  <PresentationFormat>Custom</PresentationFormat>
  <Paragraphs>164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 Unicode MS</vt:lpstr>
      <vt:lpstr>Arial</vt:lpstr>
      <vt:lpstr>Calibri</vt:lpstr>
      <vt:lpstr>Cambria Math</vt:lpstr>
      <vt:lpstr>Century Gothic</vt:lpstr>
      <vt:lpstr>Times New Roman</vt:lpstr>
      <vt:lpstr>Wingdings</vt:lpstr>
      <vt:lpstr>Wingdings 3</vt:lpstr>
      <vt:lpstr>Office 佈景主題</vt:lpstr>
      <vt:lpstr>PowerPoint Presentation</vt:lpstr>
      <vt:lpstr>PowerPoint Presentation</vt:lpstr>
      <vt:lpstr>Introduction</vt:lpstr>
      <vt:lpstr>Measurement Methods</vt:lpstr>
      <vt:lpstr>Auto-Balancing Bridge Method Working Principal </vt:lpstr>
      <vt:lpstr>Auto Balancing Bridge Method (LCR Meter)</vt:lpstr>
      <vt:lpstr>Series Vs Parallel measurement</vt:lpstr>
      <vt:lpstr>Measurement Signal Mode</vt:lpstr>
      <vt:lpstr>HIOKI IM3536 setup</vt:lpstr>
      <vt:lpstr>LCR Meter – Measurement Results</vt:lpstr>
      <vt:lpstr>Network Analysis Method (VNA)</vt:lpstr>
      <vt:lpstr>Keysight VNA P9373B Setup – Inductor measurement</vt:lpstr>
      <vt:lpstr>Keysight VNA P9373B Setup – Capacitor measurement</vt:lpstr>
      <vt:lpstr>Network Analysis Method – Inductor Measurement </vt:lpstr>
      <vt:lpstr>Network Analysis Method – Capacitor Measurement </vt:lpstr>
      <vt:lpstr>Network Analysis Method – Measurement results</vt:lpstr>
      <vt:lpstr>Network Analysis Method – Measurement results</vt:lpstr>
      <vt:lpstr>Sources</vt:lpstr>
      <vt:lpstr>PowerPoint Presentation</vt:lpstr>
    </vt:vector>
  </TitlesOfParts>
  <Manager>Chungen Wu</Manager>
  <Company>Pegatron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Chungen Wu(吳宗恩_Pegatron)</dc:creator>
  <cp:lastModifiedBy>Nicholas Gautamach(Nicholas Gautam_PTB)</cp:lastModifiedBy>
  <cp:revision>2176</cp:revision>
  <cp:lastPrinted>2017-10-12T07:53:00Z</cp:lastPrinted>
  <dcterms:created xsi:type="dcterms:W3CDTF">2015-01-10T15:46:00Z</dcterms:created>
  <dcterms:modified xsi:type="dcterms:W3CDTF">2025-12-01T06:08:24Z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1028-11.8.2.8372</vt:lpwstr>
  </property>
  <property fmtid="{D5CDD505-2E9C-101B-9397-08002B2CF9AE}" pid="3" name="ContentTypeId">
    <vt:lpwstr>0x01010006C9BF5E94733946BFB1054EBF682B0B</vt:lpwstr>
  </property>
</Properties>
</file>